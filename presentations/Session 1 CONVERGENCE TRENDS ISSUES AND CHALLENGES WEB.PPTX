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3" r:id="rId2"/>
    <p:sldId id="433" r:id="rId3"/>
    <p:sldId id="456" r:id="rId4"/>
    <p:sldId id="459" r:id="rId5"/>
    <p:sldId id="460" r:id="rId6"/>
    <p:sldId id="464" r:id="rId7"/>
    <p:sldId id="465" r:id="rId8"/>
    <p:sldId id="466" r:id="rId9"/>
    <p:sldId id="468" r:id="rId10"/>
    <p:sldId id="477" r:id="rId11"/>
    <p:sldId id="352" r:id="rId12"/>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0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06" autoAdjust="0"/>
    <p:restoredTop sz="94434" autoAdjust="0"/>
  </p:normalViewPr>
  <p:slideViewPr>
    <p:cSldViewPr snapToGrid="0" showGuides="1">
      <p:cViewPr varScale="1">
        <p:scale>
          <a:sx n="70" d="100"/>
          <a:sy n="70" d="100"/>
        </p:scale>
        <p:origin x="582" y="72"/>
      </p:cViewPr>
      <p:guideLst>
        <p:guide orient="horz" pos="2160"/>
        <p:guide pos="3840"/>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1440" tIns="45720" rIns="91440" bIns="45720" rtlCol="0"/>
          <a:lstStyle>
            <a:lvl1pPr algn="r">
              <a:defRPr sz="1200"/>
            </a:lvl1pPr>
          </a:lstStyle>
          <a:p>
            <a:fld id="{74B0C4F4-A186-4C13-8E85-1B7149B65718}" type="datetimeFigureOut">
              <a:rPr lang="en-US" smtClean="0"/>
              <a:t>02/11/2017</a:t>
            </a:fld>
            <a:endParaRPr lang="en-US"/>
          </a:p>
        </p:txBody>
      </p:sp>
      <p:sp>
        <p:nvSpPr>
          <p:cNvPr id="4" name="Slide Image Placeholder 3"/>
          <p:cNvSpPr>
            <a:spLocks noGrp="1" noRot="1" noChangeAspect="1"/>
          </p:cNvSpPr>
          <p:nvPr>
            <p:ph type="sldImg" idx="2"/>
          </p:nvPr>
        </p:nvSpPr>
        <p:spPr>
          <a:xfrm>
            <a:off x="438150" y="1235075"/>
            <a:ext cx="5921375" cy="33321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51388"/>
            <a:ext cx="5438775" cy="388937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950"/>
            <a:ext cx="2946400" cy="4953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378950"/>
            <a:ext cx="2946400" cy="495300"/>
          </a:xfrm>
          <a:prstGeom prst="rect">
            <a:avLst/>
          </a:prstGeom>
        </p:spPr>
        <p:txBody>
          <a:bodyPr vert="horz" lIns="91440" tIns="45720" rIns="91440" bIns="45720" rtlCol="0" anchor="b"/>
          <a:lstStyle>
            <a:lvl1pPr algn="r">
              <a:defRPr sz="1200"/>
            </a:lvl1pPr>
          </a:lstStyle>
          <a:p>
            <a:fld id="{2E5C51F3-D1E6-4E74-8EC3-F09FA4F68323}" type="slidenum">
              <a:rPr lang="en-US" smtClean="0"/>
              <a:t>‹#›</a:t>
            </a:fld>
            <a:endParaRPr lang="en-US"/>
          </a:p>
        </p:txBody>
      </p:sp>
    </p:spTree>
    <p:extLst>
      <p:ext uri="{BB962C8B-B14F-4D97-AF65-F5344CB8AC3E}">
        <p14:creationId xmlns:p14="http://schemas.microsoft.com/office/powerpoint/2010/main" val="3307159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5C51F3-D1E6-4E74-8EC3-F09FA4F68323}" type="slidenum">
              <a:rPr lang="en-US" smtClean="0"/>
              <a:t>1</a:t>
            </a:fld>
            <a:endParaRPr lang="en-US"/>
          </a:p>
        </p:txBody>
      </p:sp>
    </p:spTree>
    <p:extLst>
      <p:ext uri="{BB962C8B-B14F-4D97-AF65-F5344CB8AC3E}">
        <p14:creationId xmlns:p14="http://schemas.microsoft.com/office/powerpoint/2010/main" val="2080808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a:t>SDGThe</a:t>
            </a:r>
            <a:r>
              <a:rPr lang="en-US" dirty="0"/>
              <a:t> 17 goals and 169 targets,  known collectively as the SDGs, which came into effect on 1 January 2016, do not only replace the MDGs, but build on them, making them more “integrated and indivisible</a:t>
            </a:r>
            <a:r>
              <a:rPr lang="en-US" dirty="0" smtClean="0"/>
              <a:t>”.</a:t>
            </a:r>
          </a:p>
          <a:p>
            <a:endParaRPr lang="en-US" dirty="0"/>
          </a:p>
          <a:p>
            <a:r>
              <a:rPr lang="en-US" dirty="0" smtClean="0"/>
              <a:t> </a:t>
            </a:r>
            <a:r>
              <a:rPr lang="en-US" dirty="0"/>
              <a:t>While the MDGs represented a more limited set of goals towards poverty eradication, education, and good health, the SDGs cover economic, social, and environmental pillars of sustainable development, universally applicable in all countries. </a:t>
            </a:r>
            <a:endParaRPr lang="en-US" dirty="0" smtClean="0"/>
          </a:p>
          <a:p>
            <a:endParaRPr lang="en-US" dirty="0"/>
          </a:p>
          <a:p>
            <a:r>
              <a:rPr lang="en-US" dirty="0" smtClean="0"/>
              <a:t>The </a:t>
            </a:r>
            <a:r>
              <a:rPr lang="en-US" dirty="0"/>
              <a:t>SDGs are intended to be aspirational and action-oriented. Equally important is the need to assess progress towards the achievement of the goals, accompanied by targets and indicators.  </a:t>
            </a:r>
            <a:endParaRPr lang="en-US" dirty="0" smtClean="0"/>
          </a:p>
          <a:p>
            <a:endParaRPr lang="en-US" dirty="0"/>
          </a:p>
          <a:p>
            <a:r>
              <a:rPr lang="en-US" dirty="0" smtClean="0"/>
              <a:t>Although </a:t>
            </a:r>
            <a:r>
              <a:rPr lang="en-US" dirty="0"/>
              <a:t>the target date for the SDGs is the year 2030, certain targets are expected to be met along the way with some as early as 2017 or 2020</a:t>
            </a:r>
          </a:p>
        </p:txBody>
      </p:sp>
      <p:sp>
        <p:nvSpPr>
          <p:cNvPr id="4" name="Slide Number Placeholder 3"/>
          <p:cNvSpPr>
            <a:spLocks noGrp="1"/>
          </p:cNvSpPr>
          <p:nvPr>
            <p:ph type="sldNum" sz="quarter" idx="10"/>
          </p:nvPr>
        </p:nvSpPr>
        <p:spPr/>
        <p:txBody>
          <a:bodyPr/>
          <a:lstStyle/>
          <a:p>
            <a:fld id="{2F6F93F9-6E01-423B-ABB3-8FB3B0651941}" type="slidenum">
              <a:rPr lang="en-US" smtClean="0"/>
              <a:t>2</a:t>
            </a:fld>
            <a:endParaRPr lang="en-US"/>
          </a:p>
        </p:txBody>
      </p:sp>
    </p:spTree>
    <p:extLst>
      <p:ext uri="{BB962C8B-B14F-4D97-AF65-F5344CB8AC3E}">
        <p14:creationId xmlns:p14="http://schemas.microsoft.com/office/powerpoint/2010/main" val="2820634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EBC4E8D-7463-4E84-B753-3B79CC9754E1}" type="slidenum">
              <a:rPr lang="en-US" smtClean="0"/>
              <a:pPr>
                <a:defRPr/>
              </a:pPr>
              <a:t>5</a:t>
            </a:fld>
            <a:endParaRPr lang="en-US"/>
          </a:p>
        </p:txBody>
      </p:sp>
    </p:spTree>
    <p:extLst>
      <p:ext uri="{BB962C8B-B14F-4D97-AF65-F5344CB8AC3E}">
        <p14:creationId xmlns:p14="http://schemas.microsoft.com/office/powerpoint/2010/main" val="2177733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EBC4E8D-7463-4E84-B753-3B79CC9754E1}" type="slidenum">
              <a:rPr lang="en-US" smtClean="0"/>
              <a:pPr>
                <a:defRPr/>
              </a:pPr>
              <a:t>7</a:t>
            </a:fld>
            <a:endParaRPr lang="en-US"/>
          </a:p>
        </p:txBody>
      </p:sp>
    </p:spTree>
    <p:extLst>
      <p:ext uri="{BB962C8B-B14F-4D97-AF65-F5344CB8AC3E}">
        <p14:creationId xmlns:p14="http://schemas.microsoft.com/office/powerpoint/2010/main" val="257441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52009"/>
            <a:ext cx="9144000" cy="744537"/>
          </a:xfrm>
        </p:spPr>
        <p:txBody>
          <a:bodyPr anchor="t">
            <a:normAutofit/>
          </a:bodyPr>
          <a:lstStyle>
            <a:lvl1pPr algn="ctr">
              <a:defRPr sz="4000"/>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2971800"/>
            <a:ext cx="9144000" cy="2674620"/>
          </a:xfrm>
        </p:spPr>
        <p:txBody>
          <a:bodyPr>
            <a:normAutofit/>
          </a:bodyPr>
          <a:lstStyle>
            <a:lvl1pPr marL="0" indent="0" algn="ctr">
              <a:buNone/>
              <a:defRPr sz="2400">
                <a:solidFill>
                  <a:schemeClr val="bg2">
                    <a:lumMod val="25000"/>
                  </a:schemeClr>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smtClean="0"/>
              <a:t>Click to edit Master subtitle style</a:t>
            </a:r>
            <a:endParaRPr lang="en-US" dirty="0"/>
          </a:p>
        </p:txBody>
      </p:sp>
      <p:sp>
        <p:nvSpPr>
          <p:cNvPr id="5" name="Footer Placeholder 4"/>
          <p:cNvSpPr>
            <a:spLocks noGrp="1"/>
          </p:cNvSpPr>
          <p:nvPr>
            <p:ph type="ftr" sz="quarter" idx="11"/>
          </p:nvPr>
        </p:nvSpPr>
        <p:spPr>
          <a:xfrm>
            <a:off x="838200" y="6356355"/>
            <a:ext cx="248412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05F9E8EB-0DDF-4D7C-A745-6B028D7CD0B1}" type="slidenum">
              <a:rPr lang="en-US" smtClean="0"/>
              <a:t>‹#›</a:t>
            </a:fld>
            <a:endParaRPr lang="en-US" dirty="0"/>
          </a:p>
        </p:txBody>
      </p:sp>
    </p:spTree>
    <p:extLst>
      <p:ext uri="{BB962C8B-B14F-4D97-AF65-F5344CB8AC3E}">
        <p14:creationId xmlns:p14="http://schemas.microsoft.com/office/powerpoint/2010/main" val="114610335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81105"/>
            <a:ext cx="5036820" cy="807721"/>
          </a:xfrm>
        </p:spPr>
        <p:txBody>
          <a:bodyPr/>
          <a:lstStyle/>
          <a:p>
            <a:r>
              <a:rPr lang="en-US" dirty="0" smtClean="0"/>
              <a:t>Click to edit Master title style</a:t>
            </a:r>
            <a:endParaRPr lang="en-US" dirty="0"/>
          </a:p>
        </p:txBody>
      </p:sp>
      <p:sp>
        <p:nvSpPr>
          <p:cNvPr id="5" name="Footer Placeholder 4"/>
          <p:cNvSpPr>
            <a:spLocks noGrp="1"/>
          </p:cNvSpPr>
          <p:nvPr>
            <p:ph type="ftr" sz="quarter" idx="11"/>
          </p:nvPr>
        </p:nvSpPr>
        <p:spPr>
          <a:xfrm>
            <a:off x="838200" y="6356355"/>
            <a:ext cx="248412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F9E8EB-0DDF-4D7C-A745-6B028D7CD0B1}" type="slidenum">
              <a:rPr lang="en-US" smtClean="0"/>
              <a:t>‹#›</a:t>
            </a:fld>
            <a:endParaRPr lang="en-US"/>
          </a:p>
        </p:txBody>
      </p:sp>
      <p:sp>
        <p:nvSpPr>
          <p:cNvPr id="10" name="Text Placeholder 9"/>
          <p:cNvSpPr>
            <a:spLocks noGrp="1"/>
          </p:cNvSpPr>
          <p:nvPr>
            <p:ph type="body" sz="quarter" idx="14"/>
          </p:nvPr>
        </p:nvSpPr>
        <p:spPr>
          <a:xfrm>
            <a:off x="838200" y="2155824"/>
            <a:ext cx="5036820" cy="3917315"/>
          </a:xfrm>
        </p:spPr>
        <p:txBody>
          <a:bodyPr>
            <a:normAutofit/>
          </a:bodyPr>
          <a:lstStyle>
            <a:lvl1pPr marL="0" indent="0" algn="l" rtl="0">
              <a:buFontTx/>
              <a:buNone/>
              <a:defRPr sz="1800" baseline="0"/>
            </a:lvl1pPr>
            <a:lvl2pPr marL="457177" indent="0" algn="l" rtl="0">
              <a:buFontTx/>
              <a:buNone/>
              <a:defRPr sz="2400"/>
            </a:lvl2pPr>
            <a:lvl3pPr marL="914353" indent="0" algn="l" rtl="0">
              <a:buFontTx/>
              <a:buNone/>
              <a:defRPr sz="2400"/>
            </a:lvl3pPr>
            <a:lvl4pPr marL="1371531" indent="0" algn="l" rtl="0">
              <a:buFontTx/>
              <a:buNone/>
              <a:defRPr sz="2400"/>
            </a:lvl4pPr>
            <a:lvl5pPr marL="1828709" indent="0" algn="l" rtl="0">
              <a:buFontTx/>
              <a:buNone/>
              <a:defRPr sz="2400"/>
            </a:lvl5pPr>
          </a:lstStyle>
          <a:p>
            <a:pPr lvl="0"/>
            <a:r>
              <a:rPr lang="en-US" dirty="0" smtClean="0"/>
              <a:t>Click to edit Master text styles</a:t>
            </a:r>
            <a:endParaRPr lang="en-US" dirty="0"/>
          </a:p>
        </p:txBody>
      </p:sp>
      <p:sp>
        <p:nvSpPr>
          <p:cNvPr id="12" name="Chart Placeholder 11"/>
          <p:cNvSpPr>
            <a:spLocks noGrp="1"/>
          </p:cNvSpPr>
          <p:nvPr>
            <p:ph type="chart" sz="quarter" idx="15" hasCustomPrompt="1"/>
          </p:nvPr>
        </p:nvSpPr>
        <p:spPr>
          <a:xfrm>
            <a:off x="6327140" y="1181105"/>
            <a:ext cx="5034280" cy="4892034"/>
          </a:xfrm>
        </p:spPr>
        <p:txBody>
          <a:bodyPr/>
          <a:lstStyle>
            <a:lvl1pPr marL="0" indent="0" algn="ctr">
              <a:buNone/>
              <a:defRPr/>
            </a:lvl1pPr>
          </a:lstStyle>
          <a:p>
            <a:r>
              <a:rPr lang="en-US" dirty="0" smtClean="0"/>
              <a:t>Chart</a:t>
            </a:r>
            <a:endParaRPr lang="en-US" dirty="0"/>
          </a:p>
        </p:txBody>
      </p:sp>
    </p:spTree>
    <p:extLst>
      <p:ext uri="{BB962C8B-B14F-4D97-AF65-F5344CB8AC3E}">
        <p14:creationId xmlns:p14="http://schemas.microsoft.com/office/powerpoint/2010/main" val="1707372147"/>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603382"/>
            <a:ext cx="10515600" cy="2852737"/>
          </a:xfrm>
        </p:spPr>
        <p:txBody>
          <a:bodyPr anchor="b">
            <a:normAutofit/>
          </a:bodyPr>
          <a:lstStyle>
            <a:lvl1pPr>
              <a:defRPr sz="4000"/>
            </a:lvl1pPr>
          </a:lstStyle>
          <a:p>
            <a:r>
              <a:rPr lang="en-US" dirty="0" smtClean="0"/>
              <a:t>Click to edit Master title style</a:t>
            </a:r>
            <a:endParaRPr lang="en-US" dirty="0"/>
          </a:p>
        </p:txBody>
      </p:sp>
      <p:sp>
        <p:nvSpPr>
          <p:cNvPr id="3" name="Text Placeholder 2"/>
          <p:cNvSpPr>
            <a:spLocks noGrp="1"/>
          </p:cNvSpPr>
          <p:nvPr>
            <p:ph type="body" idx="1"/>
          </p:nvPr>
        </p:nvSpPr>
        <p:spPr>
          <a:xfrm>
            <a:off x="831851" y="4589469"/>
            <a:ext cx="10515600" cy="1500187"/>
          </a:xfrm>
        </p:spPr>
        <p:txBody>
          <a:bodyPr/>
          <a:lstStyle>
            <a:lvl1pPr marL="0" indent="0">
              <a:buNone/>
              <a:defRPr sz="2400">
                <a:solidFill>
                  <a:schemeClr val="tx1">
                    <a:tint val="75000"/>
                  </a:schemeClr>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smtClean="0"/>
              <a:t>Click to edit Master text styles</a:t>
            </a:r>
          </a:p>
        </p:txBody>
      </p:sp>
      <p:sp>
        <p:nvSpPr>
          <p:cNvPr id="5" name="Footer Placeholder 4"/>
          <p:cNvSpPr>
            <a:spLocks noGrp="1"/>
          </p:cNvSpPr>
          <p:nvPr>
            <p:ph type="ftr" sz="quarter" idx="11"/>
          </p:nvPr>
        </p:nvSpPr>
        <p:spPr>
          <a:xfrm>
            <a:off x="838200" y="6356355"/>
            <a:ext cx="248412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1168004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056799"/>
            <a:ext cx="10515600" cy="619602"/>
          </a:xfrm>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838200" y="1988825"/>
            <a:ext cx="5181600" cy="418813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172200" y="1988825"/>
            <a:ext cx="5181600" cy="41881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11"/>
          </p:nvPr>
        </p:nvSpPr>
        <p:spPr>
          <a:xfrm>
            <a:off x="838200" y="6356355"/>
            <a:ext cx="248412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2158142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7" y="1080131"/>
            <a:ext cx="10645143" cy="601032"/>
          </a:xfrm>
        </p:spPr>
        <p:txBody>
          <a:bodyPr/>
          <a:lstStyle/>
          <a:p>
            <a:r>
              <a:rPr lang="en-US" dirty="0" smtClean="0"/>
              <a:t>Click to edit Master title style</a:t>
            </a:r>
            <a:endParaRPr lang="en-US" dirty="0"/>
          </a:p>
        </p:txBody>
      </p:sp>
      <p:sp>
        <p:nvSpPr>
          <p:cNvPr id="6" name="Content Placeholder 5"/>
          <p:cNvSpPr>
            <a:spLocks noGrp="1"/>
          </p:cNvSpPr>
          <p:nvPr>
            <p:ph sz="quarter" idx="4"/>
          </p:nvPr>
        </p:nvSpPr>
        <p:spPr>
          <a:xfrm>
            <a:off x="6263640" y="1889125"/>
            <a:ext cx="5221291" cy="4300538"/>
          </a:xfrm>
        </p:spPr>
        <p:txBody>
          <a:bodyPr>
            <a:normAutofit/>
          </a:bodyPr>
          <a:lstStyle>
            <a:lvl1pPr marL="0" indent="0">
              <a:buNone/>
              <a:defRPr sz="1800"/>
            </a:lvl1pPr>
          </a:lstStyle>
          <a:p>
            <a:pPr lvl="0"/>
            <a:r>
              <a:rPr lang="en-US" dirty="0" smtClean="0"/>
              <a:t>Click to edit Master text styles</a:t>
            </a:r>
          </a:p>
        </p:txBody>
      </p:sp>
      <p:sp>
        <p:nvSpPr>
          <p:cNvPr id="8" name="Footer Placeholder 7"/>
          <p:cNvSpPr>
            <a:spLocks noGrp="1"/>
          </p:cNvSpPr>
          <p:nvPr>
            <p:ph type="ftr" sz="quarter" idx="11"/>
          </p:nvPr>
        </p:nvSpPr>
        <p:spPr>
          <a:xfrm>
            <a:off x="838200" y="6356355"/>
            <a:ext cx="248412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05F9E8EB-0DDF-4D7C-A745-6B028D7CD0B1}" type="slidenum">
              <a:rPr lang="en-US" smtClean="0"/>
              <a:t>‹#›</a:t>
            </a:fld>
            <a:endParaRPr lang="en-US"/>
          </a:p>
        </p:txBody>
      </p:sp>
      <p:sp>
        <p:nvSpPr>
          <p:cNvPr id="11" name="Picture Placeholder 10"/>
          <p:cNvSpPr>
            <a:spLocks noGrp="1"/>
          </p:cNvSpPr>
          <p:nvPr>
            <p:ph type="pic" sz="quarter" idx="13"/>
          </p:nvPr>
        </p:nvSpPr>
        <p:spPr>
          <a:xfrm>
            <a:off x="838200" y="1889125"/>
            <a:ext cx="5082540" cy="4300538"/>
          </a:xfrm>
        </p:spPr>
        <p:txBody>
          <a:bodyPr/>
          <a:lstStyle/>
          <a:p>
            <a:endParaRPr lang="en-US"/>
          </a:p>
        </p:txBody>
      </p:sp>
    </p:spTree>
    <p:extLst>
      <p:ext uri="{BB962C8B-B14F-4D97-AF65-F5344CB8AC3E}">
        <p14:creationId xmlns:p14="http://schemas.microsoft.com/office/powerpoint/2010/main" val="2958971540"/>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937265"/>
            <a:ext cx="8884920" cy="807721"/>
          </a:xfrm>
        </p:spPr>
        <p:txBody>
          <a:bodyPr/>
          <a:lstStyle/>
          <a:p>
            <a:r>
              <a:rPr lang="en-US" smtClean="0"/>
              <a:t>Click to edit Master title style</a:t>
            </a:r>
            <a:endParaRPr lang="en-US"/>
          </a:p>
        </p:txBody>
      </p:sp>
      <p:sp>
        <p:nvSpPr>
          <p:cNvPr id="4" name="Footer Placeholder 3"/>
          <p:cNvSpPr>
            <a:spLocks noGrp="1"/>
          </p:cNvSpPr>
          <p:nvPr>
            <p:ph type="ftr" sz="quarter" idx="11"/>
          </p:nvPr>
        </p:nvSpPr>
        <p:spPr>
          <a:xfrm>
            <a:off x="838200" y="6356355"/>
            <a:ext cx="248412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0" y="6364615"/>
            <a:ext cx="711200" cy="365125"/>
          </a:xfrm>
        </p:spPr>
        <p:txBody>
          <a:bodyPr/>
          <a:lstStyle/>
          <a:p>
            <a:fld id="{05F9E8EB-0DDF-4D7C-A745-6B028D7CD0B1}" type="slidenum">
              <a:rPr lang="en-US" smtClean="0"/>
              <a:t>‹#›</a:t>
            </a:fld>
            <a:endParaRPr lang="en-US"/>
          </a:p>
        </p:txBody>
      </p:sp>
      <p:sp>
        <p:nvSpPr>
          <p:cNvPr id="6" name="Text Placeholder 9"/>
          <p:cNvSpPr>
            <a:spLocks noGrp="1"/>
          </p:cNvSpPr>
          <p:nvPr>
            <p:ph type="body" sz="quarter" idx="14"/>
          </p:nvPr>
        </p:nvSpPr>
        <p:spPr>
          <a:xfrm>
            <a:off x="838200" y="2155824"/>
            <a:ext cx="8884920" cy="3917315"/>
          </a:xfrm>
        </p:spPr>
        <p:txBody>
          <a:bodyPr>
            <a:normAutofit/>
          </a:bodyPr>
          <a:lstStyle>
            <a:lvl1pPr marL="0" indent="0" algn="l" rtl="0">
              <a:buFontTx/>
              <a:buNone/>
              <a:defRPr sz="1800" baseline="0"/>
            </a:lvl1pPr>
            <a:lvl2pPr marL="457177" indent="0" algn="l" rtl="0">
              <a:buFontTx/>
              <a:buNone/>
              <a:defRPr sz="2400"/>
            </a:lvl2pPr>
            <a:lvl3pPr marL="914353" indent="0" algn="l" rtl="0">
              <a:buFontTx/>
              <a:buNone/>
              <a:defRPr sz="2400"/>
            </a:lvl3pPr>
            <a:lvl4pPr marL="1371531" indent="0" algn="l" rtl="0">
              <a:buFontTx/>
              <a:buNone/>
              <a:defRPr sz="2400"/>
            </a:lvl4pPr>
            <a:lvl5pPr marL="1828709" indent="0" algn="l" rtl="0">
              <a:buFontTx/>
              <a:buNone/>
              <a:defRPr sz="2400"/>
            </a:lvl5pPr>
          </a:lstStyle>
          <a:p>
            <a:pPr lvl="0"/>
            <a:r>
              <a:rPr lang="en-US" dirty="0" smtClean="0"/>
              <a:t>Click to edit Master text styles</a:t>
            </a:r>
            <a:endParaRPr lang="en-US" dirty="0"/>
          </a:p>
        </p:txBody>
      </p:sp>
    </p:spTree>
    <p:extLst>
      <p:ext uri="{BB962C8B-B14F-4D97-AF65-F5344CB8AC3E}">
        <p14:creationId xmlns:p14="http://schemas.microsoft.com/office/powerpoint/2010/main" val="1003882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838200" y="6356355"/>
            <a:ext cx="248412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2429802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135380"/>
            <a:ext cx="3932237" cy="922019"/>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2057398"/>
            <a:ext cx="6172200" cy="38036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dirty="0" smtClean="0"/>
              <a:t>Click to edit Master text styles</a:t>
            </a:r>
          </a:p>
        </p:txBody>
      </p:sp>
      <p:sp>
        <p:nvSpPr>
          <p:cNvPr id="6" name="Footer Placeholder 5"/>
          <p:cNvSpPr>
            <a:spLocks noGrp="1"/>
          </p:cNvSpPr>
          <p:nvPr>
            <p:ph type="ftr" sz="quarter" idx="11"/>
          </p:nvPr>
        </p:nvSpPr>
        <p:spPr>
          <a:xfrm>
            <a:off x="838200" y="6356355"/>
            <a:ext cx="248412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2950051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8200" y="2545080"/>
            <a:ext cx="3932237" cy="94488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1276991"/>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6" name="Footer Placeholder 5"/>
          <p:cNvSpPr>
            <a:spLocks noGrp="1"/>
          </p:cNvSpPr>
          <p:nvPr>
            <p:ph type="ftr" sz="quarter" idx="11"/>
          </p:nvPr>
        </p:nvSpPr>
        <p:spPr>
          <a:xfrm>
            <a:off x="838200" y="6356355"/>
            <a:ext cx="248412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267337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838200" y="6356355"/>
            <a:ext cx="248412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2107983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838200" y="6356355"/>
            <a:ext cx="248412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F9E8EB-0DDF-4D7C-A745-6B028D7CD0B1}" type="slidenum">
              <a:rPr lang="en-US" smtClean="0"/>
              <a:t>‹#›</a:t>
            </a:fld>
            <a:endParaRPr lang="en-US"/>
          </a:p>
        </p:txBody>
      </p:sp>
    </p:spTree>
    <p:extLst>
      <p:ext uri="{BB962C8B-B14F-4D97-AF65-F5344CB8AC3E}">
        <p14:creationId xmlns:p14="http://schemas.microsoft.com/office/powerpoint/2010/main" val="4097455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p>
            <a:fld id="{283C63E4-F9BE-C24A-B4FF-309EB18BA564}" type="slidenum">
              <a:rPr lang="en-US" smtClean="0">
                <a:solidFill>
                  <a:srgbClr val="4F81BD">
                    <a:lumMod val="60000"/>
                    <a:lumOff val="40000"/>
                  </a:srgbClr>
                </a:solidFill>
              </a:rPr>
              <a:pPr/>
              <a:t>‹#›</a:t>
            </a:fld>
            <a:endParaRPr lang="en-US">
              <a:solidFill>
                <a:srgbClr val="4F81BD">
                  <a:lumMod val="60000"/>
                  <a:lumOff val="40000"/>
                </a:srgbClr>
              </a:solidFill>
            </a:endParaRPr>
          </a:p>
        </p:txBody>
      </p:sp>
      <p:sp>
        <p:nvSpPr>
          <p:cNvPr id="5" name="TextBox 4"/>
          <p:cNvSpPr txBox="1"/>
          <p:nvPr userDrawn="1"/>
        </p:nvSpPr>
        <p:spPr>
          <a:xfrm>
            <a:off x="431371" y="6237313"/>
            <a:ext cx="4775200" cy="246221"/>
          </a:xfrm>
          <a:prstGeom prst="rect">
            <a:avLst/>
          </a:prstGeom>
          <a:noFill/>
        </p:spPr>
        <p:txBody>
          <a:bodyPr wrap="square" rtlCol="0">
            <a:spAutoFit/>
          </a:bodyPr>
          <a:lstStyle/>
          <a:p>
            <a:r>
              <a:rPr lang="en-US" sz="1000" b="0" kern="1200" dirty="0" smtClean="0">
                <a:solidFill>
                  <a:schemeClr val="accent1"/>
                </a:solidFill>
                <a:latin typeface="+mj-lt"/>
                <a:ea typeface="+mn-ea"/>
                <a:cs typeface="+mn-cs"/>
              </a:rPr>
              <a:t>Module </a:t>
            </a:r>
            <a:r>
              <a:rPr lang="en-US" sz="1000" b="0" kern="1200" baseline="0" dirty="0" smtClean="0">
                <a:solidFill>
                  <a:schemeClr val="accent1"/>
                </a:solidFill>
                <a:latin typeface="+mj-lt"/>
                <a:ea typeface="+mn-ea"/>
                <a:cs typeface="+mn-cs"/>
              </a:rPr>
              <a:t> Name</a:t>
            </a:r>
            <a:endParaRPr lang="en-US" sz="1000" b="0" dirty="0">
              <a:solidFill>
                <a:schemeClr val="accent1"/>
              </a:solidFill>
              <a:latin typeface="+mj-lt"/>
            </a:endParaRPr>
          </a:p>
        </p:txBody>
      </p:sp>
    </p:spTree>
    <p:extLst>
      <p:ext uri="{BB962C8B-B14F-4D97-AF65-F5344CB8AC3E}">
        <p14:creationId xmlns:p14="http://schemas.microsoft.com/office/powerpoint/2010/main" val="117844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181105"/>
            <a:ext cx="10515600" cy="807721"/>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2167024"/>
            <a:ext cx="10515600" cy="3505201"/>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0" y="6356355"/>
            <a:ext cx="711200" cy="365125"/>
          </a:xfrm>
          <a:prstGeom prst="rect">
            <a:avLst/>
          </a:prstGeom>
          <a:solidFill>
            <a:srgbClr val="0F90D0"/>
          </a:solidFill>
        </p:spPr>
        <p:txBody>
          <a:bodyPr vert="horz" lIns="91440" tIns="45720" rIns="91440" bIns="45720" rtlCol="0" anchor="ctr"/>
          <a:lstStyle>
            <a:lvl1pPr algn="ctr">
              <a:defRPr sz="1600" b="1">
                <a:solidFill>
                  <a:schemeClr val="bg1"/>
                </a:solidFill>
              </a:defRPr>
            </a:lvl1pPr>
          </a:lstStyle>
          <a:p>
            <a:fld id="{05F9E8EB-0DDF-4D7C-A745-6B028D7CD0B1}" type="slidenum">
              <a:rPr lang="en-US" smtClean="0"/>
              <a:pPr/>
              <a:t>‹#›</a:t>
            </a:fld>
            <a:r>
              <a:rPr lang="en-US" dirty="0" smtClean="0"/>
              <a:t> </a:t>
            </a:r>
            <a:endParaRPr lang="en-US" dirty="0"/>
          </a:p>
        </p:txBody>
      </p:sp>
      <p:pic>
        <p:nvPicPr>
          <p:cNvPr id="7" name="Picture 6"/>
          <p:cNvPicPr>
            <a:picLocks noChangeAspect="1"/>
          </p:cNvPicPr>
          <p:nvPr userDrawn="1"/>
        </p:nvPicPr>
        <p:blipFill rotWithShape="1">
          <a:blip r:embed="rId14" cstate="print">
            <a:extLst>
              <a:ext uri="{28A0092B-C50C-407E-A947-70E740481C1C}">
                <a14:useLocalDpi xmlns:a14="http://schemas.microsoft.com/office/drawing/2010/main" val="0"/>
              </a:ext>
            </a:extLst>
          </a:blip>
          <a:srcRect l="18361" t="25742" r="17179" b="24752"/>
          <a:stretch/>
        </p:blipFill>
        <p:spPr>
          <a:xfrm>
            <a:off x="348881" y="163222"/>
            <a:ext cx="724638" cy="787650"/>
          </a:xfrm>
          <a:prstGeom prst="rect">
            <a:avLst/>
          </a:prstGeom>
        </p:spPr>
      </p:pic>
      <p:pic>
        <p:nvPicPr>
          <p:cNvPr id="8" name="Picture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897426" y="5960518"/>
            <a:ext cx="1863780" cy="698410"/>
          </a:xfrm>
          <a:prstGeom prst="rect">
            <a:avLst/>
          </a:prstGeom>
        </p:spPr>
      </p:pic>
    </p:spTree>
    <p:extLst>
      <p:ext uri="{BB962C8B-B14F-4D97-AF65-F5344CB8AC3E}">
        <p14:creationId xmlns:p14="http://schemas.microsoft.com/office/powerpoint/2010/main" val="322301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354" rtl="0" eaLnBrk="1" latinLnBrk="0" hangingPunct="1">
        <a:lnSpc>
          <a:spcPct val="90000"/>
        </a:lnSpc>
        <a:spcBef>
          <a:spcPct val="0"/>
        </a:spcBef>
        <a:buNone/>
        <a:defRPr sz="4000" b="1" kern="1200">
          <a:solidFill>
            <a:schemeClr val="tx1"/>
          </a:solidFill>
          <a:latin typeface="Arial" panose="020B0604020202020204" pitchFamily="34" charset="0"/>
          <a:ea typeface="+mj-ea"/>
          <a:cs typeface="Arial" panose="020B0604020202020204" pitchFamily="34" charset="0"/>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Arial" panose="020B0604020202020204" pitchFamily="34" charset="0"/>
          <a:ea typeface="+mn-ea"/>
          <a:cs typeface="Arial" panose="020B0604020202020204" pitchFamily="34" charset="0"/>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Arial" panose="020B0604020202020204" pitchFamily="34" charset="0"/>
          <a:ea typeface="+mn-ea"/>
          <a:cs typeface="Arial" panose="020B0604020202020204" pitchFamily="34" charset="0"/>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Arial" panose="020B0604020202020204" pitchFamily="34" charset="0"/>
          <a:ea typeface="+mn-ea"/>
          <a:cs typeface="Arial" panose="020B0604020202020204" pitchFamily="34" charset="0"/>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Arial" panose="020B0604020202020204" pitchFamily="34" charset="0"/>
          <a:ea typeface="+mn-ea"/>
          <a:cs typeface="Arial" panose="020B0604020202020204" pitchFamily="34" charset="0"/>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3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318933" y="2399218"/>
            <a:ext cx="8686802" cy="3046988"/>
          </a:xfrm>
          <a:prstGeom prst="rect">
            <a:avLst/>
          </a:prstGeom>
          <a:noFill/>
        </p:spPr>
        <p:txBody>
          <a:bodyPr wrap="square" rtlCol="0">
            <a:spAutoFit/>
          </a:bodyPr>
          <a:lstStyle/>
          <a:p>
            <a:pPr hangingPunct="0"/>
            <a:r>
              <a:rPr lang="en-US" sz="3200" b="1" dirty="0" smtClean="0">
                <a:solidFill>
                  <a:srgbClr val="0F90D0"/>
                </a:solidFill>
                <a:latin typeface="Cambria" panose="02040503050406030204" pitchFamily="18" charset="0"/>
              </a:rPr>
              <a:t>NBTC </a:t>
            </a:r>
            <a:r>
              <a:rPr lang="en-US" sz="3200" b="1" dirty="0">
                <a:solidFill>
                  <a:srgbClr val="0F90D0"/>
                </a:solidFill>
                <a:latin typeface="Cambria" panose="02040503050406030204" pitchFamily="18" charset="0"/>
              </a:rPr>
              <a:t>– ITU Training </a:t>
            </a:r>
          </a:p>
          <a:p>
            <a:pPr hangingPunct="0"/>
            <a:r>
              <a:rPr lang="en-US" sz="3200" b="1" dirty="0">
                <a:solidFill>
                  <a:srgbClr val="0F90D0"/>
                </a:solidFill>
                <a:latin typeface="Cambria" panose="02040503050406030204" pitchFamily="18" charset="0"/>
              </a:rPr>
              <a:t>on </a:t>
            </a:r>
            <a:r>
              <a:rPr lang="en-US" sz="3200" b="1" dirty="0" smtClean="0">
                <a:solidFill>
                  <a:srgbClr val="0F90D0"/>
                </a:solidFill>
                <a:latin typeface="Cambria" panose="02040503050406030204" pitchFamily="18" charset="0"/>
              </a:rPr>
              <a:t>Building </a:t>
            </a:r>
            <a:r>
              <a:rPr lang="en-US" sz="3200" b="1" dirty="0" err="1">
                <a:solidFill>
                  <a:srgbClr val="0F90D0"/>
                </a:solidFill>
                <a:latin typeface="Cambria" panose="02040503050406030204" pitchFamily="18" charset="0"/>
              </a:rPr>
              <a:t>IoT</a:t>
            </a:r>
            <a:r>
              <a:rPr lang="en-US" sz="3200" b="1" dirty="0">
                <a:solidFill>
                  <a:srgbClr val="0F90D0"/>
                </a:solidFill>
                <a:latin typeface="Cambria" panose="02040503050406030204" pitchFamily="18" charset="0"/>
              </a:rPr>
              <a:t> solutions for e-applications</a:t>
            </a:r>
            <a:r>
              <a:rPr lang="en-US" sz="3200" b="1" dirty="0"/>
              <a:t> </a:t>
            </a:r>
            <a:endParaRPr lang="en-US" sz="3200" dirty="0"/>
          </a:p>
          <a:p>
            <a:endParaRPr lang="en-US" sz="3200" b="1" dirty="0">
              <a:solidFill>
                <a:srgbClr val="0F90D0"/>
              </a:solidFill>
              <a:latin typeface="Cambria" panose="02040503050406030204" pitchFamily="18" charset="0"/>
            </a:endParaRPr>
          </a:p>
          <a:p>
            <a:endParaRPr lang="en-US" sz="3200" b="1" dirty="0">
              <a:solidFill>
                <a:srgbClr val="0F90D0"/>
              </a:solidFill>
              <a:latin typeface="Cambria" panose="02040503050406030204" pitchFamily="18" charset="0"/>
            </a:endParaRPr>
          </a:p>
          <a:p>
            <a:r>
              <a:rPr lang="en-US" sz="3200" b="1" dirty="0" smtClean="0">
                <a:solidFill>
                  <a:srgbClr val="0F90D0"/>
                </a:solidFill>
                <a:latin typeface="Cambria" panose="02040503050406030204" pitchFamily="18" charset="0"/>
              </a:rPr>
              <a:t>Session 1: Convergence: Trends, Issues And Challenges </a:t>
            </a:r>
            <a:endParaRPr lang="en-US" sz="3200" dirty="0">
              <a:solidFill>
                <a:srgbClr val="0F90D0"/>
              </a:solidFill>
              <a:latin typeface="Cambria" panose="02040503050406030204" pitchFamily="18" charset="0"/>
            </a:endParaRPr>
          </a:p>
        </p:txBody>
      </p:sp>
      <p:pic>
        <p:nvPicPr>
          <p:cNvPr id="2" name="Picture 1"/>
          <p:cNvPicPr>
            <a:picLocks noChangeAspect="1"/>
          </p:cNvPicPr>
          <p:nvPr/>
        </p:nvPicPr>
        <p:blipFill>
          <a:blip r:embed="rId3"/>
          <a:stretch>
            <a:fillRect/>
          </a:stretch>
        </p:blipFill>
        <p:spPr>
          <a:xfrm>
            <a:off x="254528" y="2827866"/>
            <a:ext cx="3284540" cy="2189693"/>
          </a:xfrm>
          <a:prstGeom prst="rect">
            <a:avLst/>
          </a:prstGeom>
        </p:spPr>
      </p:pic>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10836382" y="131786"/>
            <a:ext cx="534670" cy="869950"/>
          </a:xfrm>
          <a:prstGeom prst="rect">
            <a:avLst/>
          </a:prstGeom>
        </p:spPr>
      </p:pic>
    </p:spTree>
    <p:extLst>
      <p:ext uri="{BB962C8B-B14F-4D97-AF65-F5344CB8AC3E}">
        <p14:creationId xmlns:p14="http://schemas.microsoft.com/office/powerpoint/2010/main" val="13502225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33300" y="673532"/>
            <a:ext cx="7807116" cy="523220"/>
          </a:xfrm>
          <a:prstGeom prst="rect">
            <a:avLst/>
          </a:prstGeom>
          <a:noFill/>
        </p:spPr>
        <p:txBody>
          <a:bodyPr wrap="square" rtlCol="0">
            <a:spAutoFit/>
          </a:bodyPr>
          <a:lstStyle/>
          <a:p>
            <a:pPr algn="ctr"/>
            <a:r>
              <a:rPr lang="en-US" sz="2800" b="1" dirty="0">
                <a:solidFill>
                  <a:schemeClr val="accent1"/>
                </a:solidFill>
                <a:latin typeface="Cambria" panose="02040503050406030204" pitchFamily="18" charset="0"/>
              </a:rPr>
              <a:t>Goals for a Sustainable Future : The SDGs</a:t>
            </a:r>
          </a:p>
        </p:txBody>
      </p:sp>
      <p:pic>
        <p:nvPicPr>
          <p:cNvPr id="5" name="Picture 4"/>
          <p:cNvPicPr>
            <a:picLocks noChangeAspect="1"/>
          </p:cNvPicPr>
          <p:nvPr/>
        </p:nvPicPr>
        <p:blipFill>
          <a:blip r:embed="rId3"/>
          <a:stretch>
            <a:fillRect/>
          </a:stretch>
        </p:blipFill>
        <p:spPr>
          <a:xfrm>
            <a:off x="2132757" y="1512500"/>
            <a:ext cx="1190625" cy="1190625"/>
          </a:xfrm>
          <a:prstGeom prst="rect">
            <a:avLst/>
          </a:prstGeom>
        </p:spPr>
      </p:pic>
      <p:pic>
        <p:nvPicPr>
          <p:cNvPr id="6" name="Picture 5"/>
          <p:cNvPicPr>
            <a:picLocks noChangeAspect="1"/>
          </p:cNvPicPr>
          <p:nvPr/>
        </p:nvPicPr>
        <p:blipFill>
          <a:blip r:embed="rId4"/>
          <a:stretch>
            <a:fillRect/>
          </a:stretch>
        </p:blipFill>
        <p:spPr>
          <a:xfrm>
            <a:off x="3448273" y="1512500"/>
            <a:ext cx="1190625" cy="1190625"/>
          </a:xfrm>
          <a:prstGeom prst="rect">
            <a:avLst/>
          </a:prstGeom>
        </p:spPr>
      </p:pic>
      <p:pic>
        <p:nvPicPr>
          <p:cNvPr id="7" name="Picture 6"/>
          <p:cNvPicPr>
            <a:picLocks noChangeAspect="1"/>
          </p:cNvPicPr>
          <p:nvPr/>
        </p:nvPicPr>
        <p:blipFill>
          <a:blip r:embed="rId5"/>
          <a:stretch>
            <a:fillRect/>
          </a:stretch>
        </p:blipFill>
        <p:spPr>
          <a:xfrm>
            <a:off x="4763785" y="1512500"/>
            <a:ext cx="1190625" cy="1190625"/>
          </a:xfrm>
          <a:prstGeom prst="rect">
            <a:avLst/>
          </a:prstGeom>
        </p:spPr>
      </p:pic>
      <p:pic>
        <p:nvPicPr>
          <p:cNvPr id="8" name="Picture 7"/>
          <p:cNvPicPr>
            <a:picLocks noChangeAspect="1"/>
          </p:cNvPicPr>
          <p:nvPr/>
        </p:nvPicPr>
        <p:blipFill>
          <a:blip r:embed="rId6"/>
          <a:stretch>
            <a:fillRect/>
          </a:stretch>
        </p:blipFill>
        <p:spPr>
          <a:xfrm>
            <a:off x="6079297" y="1515611"/>
            <a:ext cx="1190625" cy="1190625"/>
          </a:xfrm>
          <a:prstGeom prst="rect">
            <a:avLst/>
          </a:prstGeom>
        </p:spPr>
      </p:pic>
      <p:pic>
        <p:nvPicPr>
          <p:cNvPr id="9" name="Picture 8"/>
          <p:cNvPicPr>
            <a:picLocks noChangeAspect="1"/>
          </p:cNvPicPr>
          <p:nvPr/>
        </p:nvPicPr>
        <p:blipFill>
          <a:blip r:embed="rId7"/>
          <a:stretch>
            <a:fillRect/>
          </a:stretch>
        </p:blipFill>
        <p:spPr>
          <a:xfrm>
            <a:off x="7400104" y="1515610"/>
            <a:ext cx="1190625" cy="1190625"/>
          </a:xfrm>
          <a:prstGeom prst="rect">
            <a:avLst/>
          </a:prstGeom>
        </p:spPr>
      </p:pic>
      <p:pic>
        <p:nvPicPr>
          <p:cNvPr id="10" name="Picture 9"/>
          <p:cNvPicPr>
            <a:picLocks noChangeAspect="1"/>
          </p:cNvPicPr>
          <p:nvPr/>
        </p:nvPicPr>
        <p:blipFill>
          <a:blip r:embed="rId8"/>
          <a:stretch>
            <a:fillRect/>
          </a:stretch>
        </p:blipFill>
        <p:spPr>
          <a:xfrm>
            <a:off x="8710321" y="1515611"/>
            <a:ext cx="1190625" cy="1190625"/>
          </a:xfrm>
          <a:prstGeom prst="rect">
            <a:avLst/>
          </a:prstGeom>
        </p:spPr>
      </p:pic>
      <p:pic>
        <p:nvPicPr>
          <p:cNvPr id="11" name="Picture 10"/>
          <p:cNvPicPr>
            <a:picLocks noChangeAspect="1"/>
          </p:cNvPicPr>
          <p:nvPr/>
        </p:nvPicPr>
        <p:blipFill>
          <a:blip r:embed="rId9"/>
          <a:stretch>
            <a:fillRect/>
          </a:stretch>
        </p:blipFill>
        <p:spPr>
          <a:xfrm>
            <a:off x="2132758" y="2919407"/>
            <a:ext cx="1190625" cy="1190625"/>
          </a:xfrm>
          <a:prstGeom prst="rect">
            <a:avLst/>
          </a:prstGeom>
        </p:spPr>
      </p:pic>
      <p:pic>
        <p:nvPicPr>
          <p:cNvPr id="12" name="Picture 11"/>
          <p:cNvPicPr>
            <a:picLocks noChangeAspect="1"/>
          </p:cNvPicPr>
          <p:nvPr/>
        </p:nvPicPr>
        <p:blipFill>
          <a:blip r:embed="rId10"/>
          <a:stretch>
            <a:fillRect/>
          </a:stretch>
        </p:blipFill>
        <p:spPr>
          <a:xfrm>
            <a:off x="3448272" y="2919407"/>
            <a:ext cx="1190625" cy="1190625"/>
          </a:xfrm>
          <a:prstGeom prst="rect">
            <a:avLst/>
          </a:prstGeom>
        </p:spPr>
      </p:pic>
      <p:pic>
        <p:nvPicPr>
          <p:cNvPr id="13" name="Picture 12"/>
          <p:cNvPicPr>
            <a:picLocks noChangeAspect="1"/>
          </p:cNvPicPr>
          <p:nvPr/>
        </p:nvPicPr>
        <p:blipFill>
          <a:blip r:embed="rId11"/>
          <a:stretch>
            <a:fillRect/>
          </a:stretch>
        </p:blipFill>
        <p:spPr>
          <a:xfrm>
            <a:off x="4763786" y="2919406"/>
            <a:ext cx="1190625" cy="1190625"/>
          </a:xfrm>
          <a:prstGeom prst="rect">
            <a:avLst/>
          </a:prstGeom>
        </p:spPr>
      </p:pic>
      <p:pic>
        <p:nvPicPr>
          <p:cNvPr id="14" name="Picture 13"/>
          <p:cNvPicPr>
            <a:picLocks noChangeAspect="1"/>
          </p:cNvPicPr>
          <p:nvPr/>
        </p:nvPicPr>
        <p:blipFill>
          <a:blip r:embed="rId12"/>
          <a:stretch>
            <a:fillRect/>
          </a:stretch>
        </p:blipFill>
        <p:spPr>
          <a:xfrm>
            <a:off x="6079300" y="2919405"/>
            <a:ext cx="1190625" cy="1190625"/>
          </a:xfrm>
          <a:prstGeom prst="rect">
            <a:avLst/>
          </a:prstGeom>
        </p:spPr>
      </p:pic>
      <p:pic>
        <p:nvPicPr>
          <p:cNvPr id="15" name="Picture 14"/>
          <p:cNvPicPr>
            <a:picLocks noChangeAspect="1"/>
          </p:cNvPicPr>
          <p:nvPr/>
        </p:nvPicPr>
        <p:blipFill>
          <a:blip r:embed="rId13"/>
          <a:stretch>
            <a:fillRect/>
          </a:stretch>
        </p:blipFill>
        <p:spPr>
          <a:xfrm>
            <a:off x="7400104" y="2919407"/>
            <a:ext cx="1190625" cy="1190625"/>
          </a:xfrm>
          <a:prstGeom prst="rect">
            <a:avLst/>
          </a:prstGeom>
        </p:spPr>
      </p:pic>
      <p:pic>
        <p:nvPicPr>
          <p:cNvPr id="16" name="Picture 15"/>
          <p:cNvPicPr>
            <a:picLocks noChangeAspect="1"/>
          </p:cNvPicPr>
          <p:nvPr/>
        </p:nvPicPr>
        <p:blipFill>
          <a:blip r:embed="rId14"/>
          <a:stretch>
            <a:fillRect/>
          </a:stretch>
        </p:blipFill>
        <p:spPr>
          <a:xfrm>
            <a:off x="8715619" y="2919407"/>
            <a:ext cx="1190625" cy="1190625"/>
          </a:xfrm>
          <a:prstGeom prst="rect">
            <a:avLst/>
          </a:prstGeom>
        </p:spPr>
      </p:pic>
      <p:pic>
        <p:nvPicPr>
          <p:cNvPr id="17" name="Picture 16"/>
          <p:cNvPicPr>
            <a:picLocks noChangeAspect="1"/>
          </p:cNvPicPr>
          <p:nvPr/>
        </p:nvPicPr>
        <p:blipFill>
          <a:blip r:embed="rId15"/>
          <a:stretch>
            <a:fillRect/>
          </a:stretch>
        </p:blipFill>
        <p:spPr>
          <a:xfrm>
            <a:off x="2132759" y="4326608"/>
            <a:ext cx="1190625" cy="1190625"/>
          </a:xfrm>
          <a:prstGeom prst="rect">
            <a:avLst/>
          </a:prstGeom>
        </p:spPr>
      </p:pic>
      <p:pic>
        <p:nvPicPr>
          <p:cNvPr id="18" name="Picture 17"/>
          <p:cNvPicPr>
            <a:picLocks noChangeAspect="1"/>
          </p:cNvPicPr>
          <p:nvPr/>
        </p:nvPicPr>
        <p:blipFill>
          <a:blip r:embed="rId16"/>
          <a:stretch>
            <a:fillRect/>
          </a:stretch>
        </p:blipFill>
        <p:spPr>
          <a:xfrm>
            <a:off x="3448273" y="4326608"/>
            <a:ext cx="1190625" cy="1190625"/>
          </a:xfrm>
          <a:prstGeom prst="rect">
            <a:avLst/>
          </a:prstGeom>
        </p:spPr>
      </p:pic>
      <p:pic>
        <p:nvPicPr>
          <p:cNvPr id="19" name="Picture 18"/>
          <p:cNvPicPr>
            <a:picLocks noChangeAspect="1"/>
          </p:cNvPicPr>
          <p:nvPr/>
        </p:nvPicPr>
        <p:blipFill>
          <a:blip r:embed="rId17"/>
          <a:stretch>
            <a:fillRect/>
          </a:stretch>
        </p:blipFill>
        <p:spPr>
          <a:xfrm>
            <a:off x="4763787" y="4326608"/>
            <a:ext cx="1190625" cy="1190625"/>
          </a:xfrm>
          <a:prstGeom prst="rect">
            <a:avLst/>
          </a:prstGeom>
        </p:spPr>
      </p:pic>
      <p:pic>
        <p:nvPicPr>
          <p:cNvPr id="20" name="Picture 19"/>
          <p:cNvPicPr>
            <a:picLocks noChangeAspect="1"/>
          </p:cNvPicPr>
          <p:nvPr/>
        </p:nvPicPr>
        <p:blipFill>
          <a:blip r:embed="rId18"/>
          <a:stretch>
            <a:fillRect/>
          </a:stretch>
        </p:blipFill>
        <p:spPr>
          <a:xfrm>
            <a:off x="6079301" y="4326607"/>
            <a:ext cx="1190625" cy="1190625"/>
          </a:xfrm>
          <a:prstGeom prst="rect">
            <a:avLst/>
          </a:prstGeom>
        </p:spPr>
      </p:pic>
      <p:pic>
        <p:nvPicPr>
          <p:cNvPr id="21" name="Picture 20"/>
          <p:cNvPicPr>
            <a:picLocks noChangeAspect="1"/>
          </p:cNvPicPr>
          <p:nvPr/>
        </p:nvPicPr>
        <p:blipFill>
          <a:blip r:embed="rId19"/>
          <a:stretch>
            <a:fillRect/>
          </a:stretch>
        </p:blipFill>
        <p:spPr>
          <a:xfrm>
            <a:off x="7394815" y="4326608"/>
            <a:ext cx="1190625" cy="1190625"/>
          </a:xfrm>
          <a:prstGeom prst="rect">
            <a:avLst/>
          </a:prstGeom>
        </p:spPr>
      </p:pic>
      <p:pic>
        <p:nvPicPr>
          <p:cNvPr id="22" name="Picture 21"/>
          <p:cNvPicPr>
            <a:picLocks noChangeAspect="1"/>
          </p:cNvPicPr>
          <p:nvPr/>
        </p:nvPicPr>
        <p:blipFill>
          <a:blip r:embed="rId20"/>
          <a:stretch>
            <a:fillRect/>
          </a:stretch>
        </p:blipFill>
        <p:spPr>
          <a:xfrm>
            <a:off x="8777880" y="4382688"/>
            <a:ext cx="1134545" cy="1134545"/>
          </a:xfrm>
          <a:prstGeom prst="rect">
            <a:avLst/>
          </a:prstGeom>
        </p:spPr>
      </p:pic>
    </p:spTree>
    <p:extLst>
      <p:ext uri="{BB962C8B-B14F-4D97-AF65-F5344CB8AC3E}">
        <p14:creationId xmlns:p14="http://schemas.microsoft.com/office/powerpoint/2010/main" val="424348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txBox="1">
            <a:spLocks/>
          </p:cNvSpPr>
          <p:nvPr/>
        </p:nvSpPr>
        <p:spPr bwMode="auto">
          <a:xfrm>
            <a:off x="2590800" y="3143250"/>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lang="en-GB" altLang="en-US" sz="2400" b="1" dirty="0">
                <a:solidFill>
                  <a:schemeClr val="tx2"/>
                </a:solidFill>
                <a:latin typeface="Cambria" panose="02040503050406030204" pitchFamily="18" charset="0"/>
              </a:rPr>
              <a:t>What type of network is required to deliver Mission Critical services?</a:t>
            </a:r>
          </a:p>
          <a:p>
            <a:pPr algn="ctr" eaLnBrk="1" hangingPunct="1">
              <a:spcBef>
                <a:spcPct val="0"/>
              </a:spcBef>
              <a:buFontTx/>
              <a:buNone/>
              <a:defRPr/>
            </a:pPr>
            <a:endParaRPr lang="en-GB" altLang="en-US" sz="1800" dirty="0">
              <a:latin typeface="Cambria" pitchFamily="18" charset="0"/>
            </a:endParaRPr>
          </a:p>
          <a:p>
            <a:pPr marL="285750" indent="-285750" eaLnBrk="1" hangingPunct="1">
              <a:spcBef>
                <a:spcPct val="0"/>
              </a:spcBef>
              <a:buFont typeface="Wingdings" panose="05000000000000000000" pitchFamily="2" charset="2"/>
              <a:buChar char="§"/>
              <a:defRPr/>
            </a:pPr>
            <a:r>
              <a:rPr lang="en-GB" altLang="en-US" sz="1800" dirty="0">
                <a:latin typeface="Cambria" pitchFamily="18" charset="0"/>
              </a:rPr>
              <a:t>Private networks</a:t>
            </a:r>
          </a:p>
          <a:p>
            <a:pPr marL="285750" indent="-285750" eaLnBrk="1" hangingPunct="1">
              <a:spcBef>
                <a:spcPct val="0"/>
              </a:spcBef>
              <a:buFont typeface="Wingdings" panose="05000000000000000000" pitchFamily="2" charset="2"/>
              <a:buChar char="§"/>
              <a:defRPr/>
            </a:pPr>
            <a:r>
              <a:rPr lang="en-GB" altLang="en-US" sz="1800" dirty="0">
                <a:latin typeface="Cambria" pitchFamily="18" charset="0"/>
              </a:rPr>
              <a:t>Public networks</a:t>
            </a:r>
          </a:p>
          <a:p>
            <a:pPr marL="285750" indent="-285750" eaLnBrk="1" hangingPunct="1">
              <a:spcBef>
                <a:spcPct val="0"/>
              </a:spcBef>
              <a:buFont typeface="Wingdings" panose="05000000000000000000" pitchFamily="2" charset="2"/>
              <a:buChar char="§"/>
              <a:defRPr/>
            </a:pPr>
            <a:endParaRPr lang="en-GB" altLang="en-US" sz="1800" dirty="0">
              <a:latin typeface="Cambria" pitchFamily="18" charset="0"/>
            </a:endParaRPr>
          </a:p>
          <a:p>
            <a:pPr eaLnBrk="1" hangingPunct="1">
              <a:spcBef>
                <a:spcPct val="0"/>
              </a:spcBef>
              <a:buFont typeface="Arial" pitchFamily="34" charset="0"/>
              <a:buNone/>
              <a:defRPr/>
            </a:pPr>
            <a:r>
              <a:rPr lang="en-GB" altLang="en-US" sz="1800" b="1" dirty="0">
                <a:latin typeface="Cambria" pitchFamily="18" charset="0"/>
              </a:rPr>
              <a:t>What preparations are required to make best use of commercial networks to deliver smart services (some of them such as Emergency Telecommunication, Utilities, Transportation critical in character)?</a:t>
            </a:r>
          </a:p>
          <a:p>
            <a:pPr marL="285750" indent="-285750" eaLnBrk="1" hangingPunct="1">
              <a:spcBef>
                <a:spcPct val="0"/>
              </a:spcBef>
              <a:buFont typeface="Wingdings" panose="05000000000000000000" pitchFamily="2" charset="2"/>
              <a:buChar char="§"/>
              <a:defRPr/>
            </a:pPr>
            <a:endParaRPr lang="en-GB" altLang="en-US" sz="1800" dirty="0">
              <a:latin typeface="Cambria" pitchFamily="18" charset="0"/>
            </a:endParaRPr>
          </a:p>
          <a:p>
            <a:pPr marL="285750" indent="-285750" eaLnBrk="1" hangingPunct="1">
              <a:spcBef>
                <a:spcPct val="0"/>
              </a:spcBef>
              <a:buFont typeface="Wingdings" panose="05000000000000000000" pitchFamily="2" charset="2"/>
              <a:buChar char="§"/>
              <a:defRPr/>
            </a:pPr>
            <a:r>
              <a:rPr lang="en-GB" altLang="en-US" sz="1800" dirty="0">
                <a:latin typeface="Cambria" pitchFamily="18" charset="0"/>
              </a:rPr>
              <a:t>Technical (e.g. coverage, resilience, quality, spectrum, interoperability)</a:t>
            </a:r>
          </a:p>
          <a:p>
            <a:pPr marL="285750" indent="-285750" eaLnBrk="1" hangingPunct="1">
              <a:spcBef>
                <a:spcPct val="0"/>
              </a:spcBef>
              <a:buFont typeface="Wingdings" panose="05000000000000000000" pitchFamily="2" charset="2"/>
              <a:buChar char="§"/>
              <a:defRPr/>
            </a:pPr>
            <a:r>
              <a:rPr lang="en-GB" altLang="en-US" sz="1800" dirty="0">
                <a:latin typeface="Cambria" pitchFamily="18" charset="0"/>
              </a:rPr>
              <a:t>Commercial (e.g. availability, long term pricing, SLAs)</a:t>
            </a:r>
          </a:p>
          <a:p>
            <a:pPr marL="285750" indent="-285750" eaLnBrk="1" hangingPunct="1">
              <a:spcBef>
                <a:spcPct val="0"/>
              </a:spcBef>
              <a:buFont typeface="Wingdings" panose="05000000000000000000" pitchFamily="2" charset="2"/>
              <a:buChar char="§"/>
              <a:defRPr/>
            </a:pPr>
            <a:r>
              <a:rPr lang="en-GB" altLang="en-US" sz="1800" dirty="0">
                <a:latin typeface="Cambria" pitchFamily="18" charset="0"/>
              </a:rPr>
              <a:t>Policy &amp; Regulatory (e.g. critical services as priority, quality of service, long term tariffs, security, privacy, USO, infrastructure sharing, licensing)</a:t>
            </a:r>
          </a:p>
        </p:txBody>
      </p:sp>
    </p:spTree>
    <p:extLst>
      <p:ext uri="{BB962C8B-B14F-4D97-AF65-F5344CB8AC3E}">
        <p14:creationId xmlns:p14="http://schemas.microsoft.com/office/powerpoint/2010/main" val="915162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txBox="1">
            <a:spLocks/>
          </p:cNvSpPr>
          <p:nvPr/>
        </p:nvSpPr>
        <p:spPr bwMode="auto">
          <a:xfrm>
            <a:off x="1389488" y="188234"/>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b="1" dirty="0" smtClean="0">
                <a:solidFill>
                  <a:schemeClr val="accent1"/>
                </a:solidFill>
                <a:latin typeface="Cambria" panose="02040503050406030204" pitchFamily="18" charset="0"/>
              </a:rPr>
              <a:t>IOT and regulatory issues</a:t>
            </a:r>
            <a:endParaRPr lang="en-US" dirty="0">
              <a:solidFill>
                <a:schemeClr val="accent1"/>
              </a:solidFill>
              <a:latin typeface="Cambria" panose="02040503050406030204" pitchFamily="18" charset="0"/>
            </a:endParaRPr>
          </a:p>
        </p:txBody>
      </p:sp>
      <p:sp>
        <p:nvSpPr>
          <p:cNvPr id="3" name="TextBox 2"/>
          <p:cNvSpPr txBox="1"/>
          <p:nvPr/>
        </p:nvSpPr>
        <p:spPr>
          <a:xfrm>
            <a:off x="1270860" y="5050160"/>
            <a:ext cx="7704856" cy="307777"/>
          </a:xfrm>
          <a:prstGeom prst="rect">
            <a:avLst/>
          </a:prstGeom>
          <a:noFill/>
        </p:spPr>
        <p:txBody>
          <a:bodyPr wrap="square" rtlCol="0">
            <a:spAutoFit/>
          </a:bodyPr>
          <a:lstStyle/>
          <a:p>
            <a:r>
              <a:rPr lang="en-US" sz="1400" dirty="0"/>
              <a:t>Source: BEREC </a:t>
            </a:r>
            <a:r>
              <a:rPr lang="en-US" sz="1400" b="1" dirty="0"/>
              <a:t>Report “Enabling the Internet of Things”</a:t>
            </a:r>
            <a:r>
              <a:rPr lang="en-US" sz="1400" dirty="0"/>
              <a:t>12 February 2016,  </a:t>
            </a:r>
            <a:r>
              <a:rPr lang="en-US" sz="1400" b="1" dirty="0"/>
              <a:t> </a:t>
            </a:r>
            <a:endParaRPr lang="en-US" sz="1400" dirty="0"/>
          </a:p>
        </p:txBody>
      </p:sp>
      <p:sp>
        <p:nvSpPr>
          <p:cNvPr id="2" name="TextBox 1"/>
          <p:cNvSpPr txBox="1"/>
          <p:nvPr/>
        </p:nvSpPr>
        <p:spPr>
          <a:xfrm>
            <a:off x="1152232" y="2183972"/>
            <a:ext cx="7704856"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Traffic and spectrum availability</a:t>
            </a:r>
          </a:p>
          <a:p>
            <a:pPr marL="342900" indent="-342900">
              <a:buFont typeface="Arial" panose="020B0604020202020204" pitchFamily="34" charset="0"/>
              <a:buChar char="•"/>
            </a:pPr>
            <a:r>
              <a:rPr lang="en-US" sz="2400" dirty="0"/>
              <a:t>Licensing (Allocation method, terms and conditions, technology aspects, license period)</a:t>
            </a:r>
          </a:p>
          <a:p>
            <a:pPr marL="342900" indent="-342900">
              <a:buFont typeface="Arial" panose="020B0604020202020204" pitchFamily="34" charset="0"/>
              <a:buChar char="•"/>
            </a:pPr>
            <a:r>
              <a:rPr lang="en-US" sz="2400" dirty="0"/>
              <a:t>Technical (Low range, high</a:t>
            </a:r>
          </a:p>
          <a:p>
            <a:pPr marL="342900" indent="-342900">
              <a:buFont typeface="Arial" panose="020B0604020202020204" pitchFamily="34" charset="0"/>
              <a:buChar char="•"/>
            </a:pPr>
            <a:r>
              <a:rPr lang="en-US" sz="2400" dirty="0"/>
              <a:t>Energy Efficiency (e.g. Battery Life)</a:t>
            </a:r>
          </a:p>
          <a:p>
            <a:pPr marL="342900" indent="-342900">
              <a:buFont typeface="Arial" panose="020B0604020202020204" pitchFamily="34" charset="0"/>
              <a:buChar char="•"/>
            </a:pPr>
            <a:r>
              <a:rPr lang="en-US" sz="2400" dirty="0"/>
              <a:t>Commercial </a:t>
            </a:r>
          </a:p>
          <a:p>
            <a:pPr marL="342900" indent="-342900">
              <a:buFont typeface="Arial" panose="020B0604020202020204" pitchFamily="34" charset="0"/>
              <a:buChar char="•"/>
            </a:pPr>
            <a:endParaRPr lang="en-US" sz="2400" dirty="0"/>
          </a:p>
        </p:txBody>
      </p:sp>
      <p:sp>
        <p:nvSpPr>
          <p:cNvPr id="4" name="TextBox 3"/>
          <p:cNvSpPr txBox="1"/>
          <p:nvPr/>
        </p:nvSpPr>
        <p:spPr>
          <a:xfrm>
            <a:off x="8742788" y="2797293"/>
            <a:ext cx="2915812" cy="954107"/>
          </a:xfrm>
          <a:prstGeom prst="rect">
            <a:avLst/>
          </a:prstGeom>
          <a:noFill/>
        </p:spPr>
        <p:txBody>
          <a:bodyPr wrap="square" rtlCol="0">
            <a:spAutoFit/>
          </a:bodyPr>
          <a:lstStyle/>
          <a:p>
            <a:pPr algn="r"/>
            <a:r>
              <a:rPr lang="en-US" sz="2800" b="1" dirty="0" smtClean="0">
                <a:solidFill>
                  <a:schemeClr val="accent1"/>
                </a:solidFill>
              </a:rPr>
              <a:t>WRC 2019 and IMT Spectrum </a:t>
            </a:r>
            <a:endParaRPr lang="en-US" sz="2800" b="1" dirty="0">
              <a:solidFill>
                <a:schemeClr val="accent1"/>
              </a:solidFill>
            </a:endParaRPr>
          </a:p>
        </p:txBody>
      </p:sp>
      <p:sp>
        <p:nvSpPr>
          <p:cNvPr id="5" name="Rectangle 4"/>
          <p:cNvSpPr/>
          <p:nvPr/>
        </p:nvSpPr>
        <p:spPr>
          <a:xfrm>
            <a:off x="1022194" y="1626108"/>
            <a:ext cx="2112892" cy="523220"/>
          </a:xfrm>
          <a:prstGeom prst="rect">
            <a:avLst/>
          </a:prstGeom>
        </p:spPr>
        <p:txBody>
          <a:bodyPr wrap="square">
            <a:spAutoFit/>
          </a:bodyPr>
          <a:lstStyle/>
          <a:p>
            <a:r>
              <a:rPr lang="en-US" sz="2800" b="1" dirty="0">
                <a:solidFill>
                  <a:schemeClr val="accent1"/>
                </a:solidFill>
              </a:rPr>
              <a:t>Spectrum</a:t>
            </a:r>
            <a:endParaRPr lang="en-US" sz="2800" dirty="0"/>
          </a:p>
        </p:txBody>
      </p:sp>
    </p:spTree>
    <p:extLst>
      <p:ext uri="{BB962C8B-B14F-4D97-AF65-F5344CB8AC3E}">
        <p14:creationId xmlns:p14="http://schemas.microsoft.com/office/powerpoint/2010/main" val="140520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403" y="1097969"/>
            <a:ext cx="6136804" cy="46007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5457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txBox="1">
            <a:spLocks/>
          </p:cNvSpPr>
          <p:nvPr/>
        </p:nvSpPr>
        <p:spPr bwMode="auto">
          <a:xfrm>
            <a:off x="1037931" y="1165315"/>
            <a:ext cx="10051129"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altLang="en-US" sz="2400" b="1" dirty="0">
                <a:solidFill>
                  <a:schemeClr val="accent1"/>
                </a:solidFill>
                <a:latin typeface="+mj-lt"/>
              </a:rPr>
              <a:t>PRIVACY AND SECURITY ISSUES</a:t>
            </a:r>
            <a:r>
              <a:rPr lang="en-GB" altLang="en-US" sz="2400" b="1" dirty="0" smtClean="0">
                <a:solidFill>
                  <a:schemeClr val="accent1"/>
                </a:solidFill>
                <a:latin typeface="+mj-lt"/>
              </a:rPr>
              <a:t>:  </a:t>
            </a:r>
            <a:r>
              <a:rPr lang="en-US" sz="2400" b="1" dirty="0">
                <a:solidFill>
                  <a:schemeClr val="accent1"/>
                </a:solidFill>
                <a:latin typeface="+mj-lt"/>
              </a:rPr>
              <a:t>Potential regulatory measures</a:t>
            </a:r>
          </a:p>
        </p:txBody>
      </p:sp>
      <p:sp>
        <p:nvSpPr>
          <p:cNvPr id="2" name="TextBox 1"/>
          <p:cNvSpPr txBox="1"/>
          <p:nvPr/>
        </p:nvSpPr>
        <p:spPr>
          <a:xfrm>
            <a:off x="1037931" y="1984837"/>
            <a:ext cx="10424725" cy="3323987"/>
          </a:xfrm>
          <a:prstGeom prst="rect">
            <a:avLst/>
          </a:prstGeom>
          <a:noFill/>
        </p:spPr>
        <p:txBody>
          <a:bodyPr wrap="square" rtlCol="0">
            <a:spAutoFit/>
          </a:bodyPr>
          <a:lstStyle/>
          <a:p>
            <a:r>
              <a:rPr lang="en-US" sz="1600" dirty="0"/>
              <a:t>R&amp;D on more hardware and software security and privacy mechanisms for resource‐constrained IoT systems, particularly targeted towards start‐ups and individual entrepreneurs that lack resources to easily develop this functionality.</a:t>
            </a:r>
          </a:p>
          <a:p>
            <a:endParaRPr lang="en-US" sz="1600" dirty="0"/>
          </a:p>
          <a:p>
            <a:r>
              <a:rPr lang="en-US" sz="1600" dirty="0"/>
              <a:t>Incentives for companies to develop new mechanisms to improve transparency of IoT personal data use, and for gaining informed consent from individuals concerned when sensitive data is gathered or inferences drawn.</a:t>
            </a:r>
          </a:p>
          <a:p>
            <a:endParaRPr lang="en-US" sz="1600" dirty="0"/>
          </a:p>
          <a:p>
            <a:r>
              <a:rPr lang="en-US" sz="1600" dirty="0"/>
              <a:t>Greater use of Privacy Impact Assessments by </a:t>
            </a:r>
            <a:r>
              <a:rPr lang="en-US" sz="1600" dirty="0" err="1"/>
              <a:t>organisations</a:t>
            </a:r>
            <a:r>
              <a:rPr lang="en-US" sz="1600" dirty="0"/>
              <a:t> building and configuring </a:t>
            </a:r>
            <a:r>
              <a:rPr lang="en-US" sz="1600" dirty="0" err="1" smtClean="0"/>
              <a:t>IoT</a:t>
            </a:r>
            <a:r>
              <a:rPr lang="en-US" sz="1600" dirty="0" smtClean="0"/>
              <a:t> systems</a:t>
            </a:r>
            <a:r>
              <a:rPr lang="en-US" sz="1600" dirty="0"/>
              <a:t>.</a:t>
            </a:r>
          </a:p>
          <a:p>
            <a:endParaRPr lang="en-US" sz="1600" dirty="0"/>
          </a:p>
          <a:p>
            <a:r>
              <a:rPr lang="en-US" sz="1600" dirty="0"/>
              <a:t>Development of further guidance from global privacy regulators on application of the principles of data </a:t>
            </a:r>
            <a:r>
              <a:rPr lang="en-US" sz="1600" dirty="0" err="1"/>
              <a:t>minimisation</a:t>
            </a:r>
            <a:r>
              <a:rPr lang="en-US" sz="1600" dirty="0"/>
              <a:t> and purpose limitation in IoT systems.</a:t>
            </a:r>
          </a:p>
          <a:p>
            <a:endParaRPr lang="en-US" sz="1600" dirty="0"/>
          </a:p>
          <a:p>
            <a:r>
              <a:rPr lang="en-US" sz="1600" dirty="0"/>
              <a:t>More cooperation between telecoms and other regulators such as privacy/data </a:t>
            </a:r>
            <a:r>
              <a:rPr lang="en-US" sz="1600" dirty="0" smtClean="0"/>
              <a:t>protection agencies</a:t>
            </a:r>
            <a:r>
              <a:rPr lang="en-US" sz="1600" dirty="0"/>
              <a:t>.</a:t>
            </a:r>
            <a:endParaRPr lang="en-US" dirty="0"/>
          </a:p>
          <a:p>
            <a:pPr marL="342900" indent="-342900">
              <a:buFont typeface="Arial" panose="020B0604020202020204" pitchFamily="34" charset="0"/>
              <a:buChar char="•"/>
            </a:pPr>
            <a:endParaRPr lang="en-US" dirty="0"/>
          </a:p>
        </p:txBody>
      </p:sp>
      <p:sp>
        <p:nvSpPr>
          <p:cNvPr id="5" name="TextBox 4"/>
          <p:cNvSpPr txBox="1"/>
          <p:nvPr/>
        </p:nvSpPr>
        <p:spPr>
          <a:xfrm>
            <a:off x="1037931" y="5436894"/>
            <a:ext cx="7920880" cy="307777"/>
          </a:xfrm>
          <a:prstGeom prst="rect">
            <a:avLst/>
          </a:prstGeom>
          <a:noFill/>
        </p:spPr>
        <p:txBody>
          <a:bodyPr wrap="square" rtlCol="0">
            <a:spAutoFit/>
          </a:bodyPr>
          <a:lstStyle/>
          <a:p>
            <a:r>
              <a:rPr lang="en-US" sz="1400" dirty="0"/>
              <a:t>Source: </a:t>
            </a:r>
            <a:r>
              <a:rPr lang="en-US" sz="1400" b="1" dirty="0"/>
              <a:t>GSR discussion paper Regulation and the Internet of Things, 2015 </a:t>
            </a:r>
          </a:p>
        </p:txBody>
      </p:sp>
      <p:sp>
        <p:nvSpPr>
          <p:cNvPr id="6" name="Title 1"/>
          <p:cNvSpPr txBox="1">
            <a:spLocks/>
          </p:cNvSpPr>
          <p:nvPr/>
        </p:nvSpPr>
        <p:spPr bwMode="auto">
          <a:xfrm>
            <a:off x="1389488" y="188234"/>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b="1" dirty="0" smtClean="0">
                <a:solidFill>
                  <a:schemeClr val="accent1"/>
                </a:solidFill>
                <a:latin typeface="Cambria" panose="02040503050406030204" pitchFamily="18" charset="0"/>
              </a:rPr>
              <a:t>IOT and regulatory issues</a:t>
            </a:r>
            <a:endParaRPr lang="en-US" dirty="0">
              <a:solidFill>
                <a:schemeClr val="accent1"/>
              </a:solidFill>
              <a:latin typeface="Cambria" panose="02040503050406030204" pitchFamily="18" charset="0"/>
            </a:endParaRPr>
          </a:p>
        </p:txBody>
      </p:sp>
    </p:spTree>
    <p:extLst>
      <p:ext uri="{BB962C8B-B14F-4D97-AF65-F5344CB8AC3E}">
        <p14:creationId xmlns:p14="http://schemas.microsoft.com/office/powerpoint/2010/main" val="74862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27500" y="484167"/>
            <a:ext cx="8229600" cy="409756"/>
          </a:xfrm>
        </p:spPr>
        <p:txBody>
          <a:bodyPr>
            <a:normAutofit fontScale="90000"/>
          </a:bodyPr>
          <a:lstStyle/>
          <a:p>
            <a:r>
              <a:rPr lang="en-US" sz="2800" dirty="0">
                <a:solidFill>
                  <a:schemeClr val="accent1"/>
                </a:solidFill>
                <a:latin typeface="Cambria" panose="02040503050406030204" pitchFamily="18" charset="0"/>
              </a:rPr>
              <a:t>Security and privacy protection capabilities</a:t>
            </a:r>
          </a:p>
        </p:txBody>
      </p:sp>
      <p:sp>
        <p:nvSpPr>
          <p:cNvPr id="5" name="Subtitle 4"/>
          <p:cNvSpPr>
            <a:spLocks noGrp="1"/>
          </p:cNvSpPr>
          <p:nvPr>
            <p:ph idx="1"/>
          </p:nvPr>
        </p:nvSpPr>
        <p:spPr>
          <a:xfrm>
            <a:off x="617764" y="1096458"/>
            <a:ext cx="10956471" cy="3831167"/>
          </a:xfrm>
        </p:spPr>
        <p:txBody>
          <a:bodyPr>
            <a:noAutofit/>
          </a:bodyPr>
          <a:lstStyle/>
          <a:p>
            <a:r>
              <a:rPr lang="en-US" sz="1600" dirty="0">
                <a:solidFill>
                  <a:schemeClr val="tx1"/>
                </a:solidFill>
                <a:latin typeface="+mn-lt"/>
              </a:rPr>
              <a:t>The security and privacy protection group includes communication security capability, data management security capability, service provision security capability, security integration capability, mutual authentication and authorization capability, and security audit capability.</a:t>
            </a:r>
          </a:p>
          <a:p>
            <a:r>
              <a:rPr lang="en-US" sz="1600" dirty="0">
                <a:solidFill>
                  <a:schemeClr val="tx1"/>
                </a:solidFill>
                <a:latin typeface="+mn-lt"/>
              </a:rPr>
              <a:t> Communication security capability involves the abilities of supporting secure, trusted and privacy-protected communication [C-7-1].</a:t>
            </a:r>
          </a:p>
          <a:p>
            <a:r>
              <a:rPr lang="en-US" sz="1600" dirty="0">
                <a:solidFill>
                  <a:schemeClr val="tx1"/>
                </a:solidFill>
                <a:latin typeface="+mn-lt"/>
              </a:rPr>
              <a:t>Data management security capability involves the abilities of providing secure, trusted and privacy-protected data management [C-7-2].</a:t>
            </a:r>
          </a:p>
          <a:p>
            <a:r>
              <a:rPr lang="en-US" sz="1600" dirty="0">
                <a:solidFill>
                  <a:schemeClr val="tx1"/>
                </a:solidFill>
                <a:latin typeface="+mn-lt"/>
              </a:rPr>
              <a:t>Service provision security capability involves the abilities of providing secure, trusted and privacy-protected service provision [C-7-3].</a:t>
            </a:r>
          </a:p>
          <a:p>
            <a:r>
              <a:rPr lang="en-US" sz="1600" dirty="0">
                <a:solidFill>
                  <a:schemeClr val="tx1"/>
                </a:solidFill>
                <a:latin typeface="+mn-lt"/>
              </a:rPr>
              <a:t>Security integration capability involves the abilities of integrating different security policies and techniques related to the variety of IoT functional components [C-7-4].</a:t>
            </a:r>
          </a:p>
          <a:p>
            <a:r>
              <a:rPr lang="en-US" sz="1600" dirty="0">
                <a:solidFill>
                  <a:schemeClr val="tx1"/>
                </a:solidFill>
                <a:latin typeface="+mn-lt"/>
              </a:rPr>
              <a:t>Mutual authentication and authorization capability involves the abilities of authenticating and authorizing each other before a device accesses the IoT based on predefined security policies [C-7-5].</a:t>
            </a:r>
          </a:p>
          <a:p>
            <a:r>
              <a:rPr lang="en-US" sz="1600" dirty="0">
                <a:solidFill>
                  <a:schemeClr val="tx1"/>
                </a:solidFill>
                <a:latin typeface="+mn-lt"/>
              </a:rPr>
              <a:t>Security audit capability involves the abilities of monitoring any data access or attempt to access IoT applications in a fully transparent, traceable and reproducible way based on appropriate regulation and laws [C-7-6].</a:t>
            </a:r>
          </a:p>
          <a:p>
            <a:pPr marL="0" indent="0">
              <a:buNone/>
            </a:pPr>
            <a:r>
              <a:rPr lang="en-US" sz="1600" dirty="0">
                <a:solidFill>
                  <a:schemeClr val="tx1"/>
                </a:solidFill>
                <a:latin typeface="+mn-lt"/>
              </a:rPr>
              <a:t>NOTE – These security and privacy protection capabilities include also the ability of coping with the security and privacy protection issues for operations across different domains.</a:t>
            </a:r>
          </a:p>
        </p:txBody>
      </p:sp>
      <p:sp>
        <p:nvSpPr>
          <p:cNvPr id="6" name="TextBox 5"/>
          <p:cNvSpPr txBox="1"/>
          <p:nvPr/>
        </p:nvSpPr>
        <p:spPr>
          <a:xfrm>
            <a:off x="617764" y="5742452"/>
            <a:ext cx="4824536" cy="276999"/>
          </a:xfrm>
          <a:prstGeom prst="rect">
            <a:avLst/>
          </a:prstGeom>
          <a:noFill/>
        </p:spPr>
        <p:txBody>
          <a:bodyPr wrap="square" rtlCol="0">
            <a:spAutoFit/>
          </a:bodyPr>
          <a:lstStyle/>
          <a:p>
            <a:r>
              <a:rPr lang="en-US" sz="1200" dirty="0"/>
              <a:t>Source: Recommendation ITU-T Y.4401/Y.2068 (03/2015))</a:t>
            </a:r>
          </a:p>
        </p:txBody>
      </p:sp>
      <p:sp>
        <p:nvSpPr>
          <p:cNvPr id="2" name="Rectangle 1"/>
          <p:cNvSpPr/>
          <p:nvPr/>
        </p:nvSpPr>
        <p:spPr>
          <a:xfrm>
            <a:off x="452383" y="6150080"/>
            <a:ext cx="8316416" cy="369332"/>
          </a:xfrm>
          <a:prstGeom prst="rect">
            <a:avLst/>
          </a:prstGeom>
          <a:solidFill>
            <a:schemeClr val="accent1">
              <a:lumMod val="60000"/>
              <a:lumOff val="40000"/>
            </a:schemeClr>
          </a:solidFill>
        </p:spPr>
        <p:txBody>
          <a:bodyPr wrap="square">
            <a:spAutoFit/>
          </a:bodyPr>
          <a:lstStyle/>
          <a:p>
            <a:pPr algn="ctr"/>
            <a:r>
              <a:rPr lang="en-US" b="1" i="1" dirty="0"/>
              <a:t>Please refer Annex A Recommendation ITU-T Y.4401/Y.2068 for the IoT capabilities list</a:t>
            </a:r>
          </a:p>
        </p:txBody>
      </p:sp>
    </p:spTree>
    <p:extLst>
      <p:ext uri="{BB962C8B-B14F-4D97-AF65-F5344CB8AC3E}">
        <p14:creationId xmlns:p14="http://schemas.microsoft.com/office/powerpoint/2010/main" val="1668519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txBox="1">
            <a:spLocks/>
          </p:cNvSpPr>
          <p:nvPr/>
        </p:nvSpPr>
        <p:spPr bwMode="auto">
          <a:xfrm>
            <a:off x="1044163" y="1208517"/>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altLang="en-US" sz="2400" b="1" dirty="0">
                <a:solidFill>
                  <a:schemeClr val="accent1"/>
                </a:solidFill>
                <a:latin typeface="+mj-lt"/>
              </a:rPr>
              <a:t>INTEROPERABILITY AND STANDARDS</a:t>
            </a:r>
            <a:endParaRPr lang="en-US" sz="2400" dirty="0">
              <a:solidFill>
                <a:schemeClr val="accent1"/>
              </a:solidFill>
              <a:latin typeface="+mj-lt"/>
            </a:endParaRPr>
          </a:p>
        </p:txBody>
      </p:sp>
      <p:sp>
        <p:nvSpPr>
          <p:cNvPr id="2" name="TextBox 1"/>
          <p:cNvSpPr txBox="1"/>
          <p:nvPr/>
        </p:nvSpPr>
        <p:spPr>
          <a:xfrm>
            <a:off x="1044163" y="2485024"/>
            <a:ext cx="10173565" cy="2862322"/>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t>IoTs</a:t>
            </a:r>
            <a:r>
              <a:rPr lang="en-US" sz="2000" dirty="0"/>
              <a:t> have both public and proprietary standards currently</a:t>
            </a:r>
          </a:p>
          <a:p>
            <a:pPr marL="342900" indent="-342900">
              <a:buFont typeface="Arial" panose="020B0604020202020204" pitchFamily="34" charset="0"/>
              <a:buChar char="•"/>
            </a:pPr>
            <a:r>
              <a:rPr lang="en-US" sz="2000" dirty="0"/>
              <a:t>Standardization is important for Interoperability, reducing costs and barriers to entry</a:t>
            </a:r>
          </a:p>
          <a:p>
            <a:pPr marL="799986" lvl="1" indent="-342900">
              <a:buFont typeface="Arial" panose="020B0604020202020204" pitchFamily="34" charset="0"/>
              <a:buChar char="•"/>
            </a:pPr>
            <a:r>
              <a:rPr lang="en-US" sz="2000" dirty="0"/>
              <a:t>ITU-T SG 20 (IOT and Smart Cities, Smart Communities)</a:t>
            </a:r>
          </a:p>
          <a:p>
            <a:pPr marL="799986" lvl="1" indent="-342900">
              <a:buFont typeface="Arial" panose="020B0604020202020204" pitchFamily="34" charset="0"/>
              <a:buChar char="•"/>
            </a:pPr>
            <a:r>
              <a:rPr lang="en-US" sz="2000" dirty="0"/>
              <a:t>National Standardization bodies</a:t>
            </a:r>
          </a:p>
          <a:p>
            <a:pPr marL="799986" lvl="1" indent="-342900">
              <a:buFont typeface="Arial" panose="020B0604020202020204" pitchFamily="34" charset="0"/>
              <a:buChar char="•"/>
            </a:pPr>
            <a:r>
              <a:rPr lang="en-US" sz="2000" dirty="0"/>
              <a:t>International Standardization bodies</a:t>
            </a:r>
          </a:p>
          <a:p>
            <a:pPr marL="342900" indent="-342900">
              <a:buFont typeface="Arial" panose="020B0604020202020204" pitchFamily="34" charset="0"/>
              <a:buChar char="•"/>
            </a:pPr>
            <a:r>
              <a:rPr lang="en-US" sz="2000" dirty="0"/>
              <a:t>How to coordinate interoperability amongst public and private sector entities?</a:t>
            </a:r>
          </a:p>
          <a:p>
            <a:pPr marL="914400">
              <a:tabLst>
                <a:tab pos="914400" algn="l"/>
              </a:tabLst>
            </a:pPr>
            <a:r>
              <a:rPr lang="en-US" sz="2000" dirty="0"/>
              <a:t>	e.g. parking meters, thermostats, cardiac monitors, tires, roads, car components, supermarket shelves</a:t>
            </a:r>
          </a:p>
          <a:p>
            <a:pPr marL="342900" indent="-342900">
              <a:buFont typeface="Arial" panose="020B0604020202020204" pitchFamily="34" charset="0"/>
              <a:buChar char="•"/>
            </a:pPr>
            <a:r>
              <a:rPr lang="en-US" sz="2000" dirty="0"/>
              <a:t>Cross-sectoral collaboration is very important as IoT are deployed in multiple </a:t>
            </a:r>
            <a:r>
              <a:rPr lang="en-US" sz="2000" dirty="0" smtClean="0"/>
              <a:t>sectors</a:t>
            </a:r>
            <a:endParaRPr lang="en-US" sz="2000" dirty="0"/>
          </a:p>
        </p:txBody>
      </p:sp>
      <p:sp>
        <p:nvSpPr>
          <p:cNvPr id="4" name="Title 1"/>
          <p:cNvSpPr txBox="1">
            <a:spLocks/>
          </p:cNvSpPr>
          <p:nvPr/>
        </p:nvSpPr>
        <p:spPr bwMode="auto">
          <a:xfrm>
            <a:off x="1389488" y="188234"/>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b="1" dirty="0" smtClean="0">
                <a:solidFill>
                  <a:schemeClr val="accent1"/>
                </a:solidFill>
                <a:latin typeface="Cambria" panose="02040503050406030204" pitchFamily="18" charset="0"/>
              </a:rPr>
              <a:t>IOT and regulatory issues</a:t>
            </a:r>
            <a:endParaRPr lang="en-US" dirty="0">
              <a:solidFill>
                <a:schemeClr val="accent1"/>
              </a:solidFill>
              <a:latin typeface="Cambria" panose="02040503050406030204" pitchFamily="18" charset="0"/>
            </a:endParaRPr>
          </a:p>
        </p:txBody>
      </p:sp>
    </p:spTree>
    <p:extLst>
      <p:ext uri="{BB962C8B-B14F-4D97-AF65-F5344CB8AC3E}">
        <p14:creationId xmlns:p14="http://schemas.microsoft.com/office/powerpoint/2010/main" val="3349189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txBox="1">
            <a:spLocks/>
          </p:cNvSpPr>
          <p:nvPr/>
        </p:nvSpPr>
        <p:spPr bwMode="auto">
          <a:xfrm>
            <a:off x="1058704" y="1095332"/>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sz="2400" b="1" dirty="0" smtClean="0">
                <a:solidFill>
                  <a:schemeClr val="accent1"/>
                </a:solidFill>
                <a:latin typeface="+mj-lt"/>
              </a:rPr>
              <a:t>Competition issues</a:t>
            </a:r>
            <a:endParaRPr lang="en-US" sz="2400" dirty="0">
              <a:solidFill>
                <a:schemeClr val="accent1"/>
              </a:solidFill>
              <a:latin typeface="+mj-lt"/>
            </a:endParaRPr>
          </a:p>
        </p:txBody>
      </p:sp>
      <p:sp>
        <p:nvSpPr>
          <p:cNvPr id="2" name="TextBox 1"/>
          <p:cNvSpPr txBox="1"/>
          <p:nvPr/>
        </p:nvSpPr>
        <p:spPr>
          <a:xfrm>
            <a:off x="821448" y="1914854"/>
            <a:ext cx="7704856"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Licensed Vs Non Licensed services</a:t>
            </a:r>
          </a:p>
          <a:p>
            <a:pPr marL="342900" indent="-342900">
              <a:buFont typeface="Arial" panose="020B0604020202020204" pitchFamily="34" charset="0"/>
              <a:buChar char="•"/>
            </a:pPr>
            <a:r>
              <a:rPr lang="en-US" sz="2400" dirty="0"/>
              <a:t>Area of license </a:t>
            </a:r>
          </a:p>
          <a:p>
            <a:pPr marL="342900" indent="-342900">
              <a:buFont typeface="Arial" panose="020B0604020202020204" pitchFamily="34" charset="0"/>
              <a:buChar char="•"/>
            </a:pPr>
            <a:r>
              <a:rPr lang="en-US" sz="2400" dirty="0"/>
              <a:t>OTT</a:t>
            </a:r>
          </a:p>
          <a:p>
            <a:pPr marL="342900" indent="-342900">
              <a:buFont typeface="Arial" panose="020B0604020202020204" pitchFamily="34" charset="0"/>
              <a:buChar char="•"/>
            </a:pPr>
            <a:r>
              <a:rPr lang="en-US" sz="2400" dirty="0"/>
              <a:t>Net Neutrality</a:t>
            </a:r>
          </a:p>
          <a:p>
            <a:pPr marL="342900" indent="-342900">
              <a:buFont typeface="Arial" panose="020B0604020202020204" pitchFamily="34" charset="0"/>
              <a:buChar char="•"/>
            </a:pPr>
            <a:r>
              <a:rPr lang="en-US" sz="2400" dirty="0"/>
              <a:t>Infrastructure sharing</a:t>
            </a:r>
          </a:p>
          <a:p>
            <a:pPr marL="342900" indent="-342900">
              <a:buFont typeface="Arial" panose="020B0604020202020204" pitchFamily="34" charset="0"/>
              <a:buChar char="•"/>
            </a:pPr>
            <a:r>
              <a:rPr lang="en-US" sz="2400" dirty="0"/>
              <a:t>Access to data and open IOT platforms</a:t>
            </a:r>
          </a:p>
          <a:p>
            <a:pPr marL="342900" indent="-342900">
              <a:buFont typeface="Arial" panose="020B0604020202020204" pitchFamily="34" charset="0"/>
              <a:buChar char="•"/>
            </a:pPr>
            <a:r>
              <a:rPr lang="en-US" sz="2400" dirty="0"/>
              <a:t>Data analytics</a:t>
            </a:r>
          </a:p>
          <a:p>
            <a:pPr marL="342900" indent="-342900">
              <a:buFont typeface="Arial" panose="020B0604020202020204" pitchFamily="34" charset="0"/>
              <a:buChar char="•"/>
            </a:pPr>
            <a:r>
              <a:rPr lang="en-US" sz="2400" dirty="0"/>
              <a:t>Customer lock-in </a:t>
            </a:r>
          </a:p>
          <a:p>
            <a:pPr marL="342900" indent="-342900">
              <a:buFont typeface="Arial" panose="020B0604020202020204" pitchFamily="34" charset="0"/>
              <a:buChar char="•"/>
            </a:pPr>
            <a:r>
              <a:rPr lang="en-US" sz="2400" dirty="0"/>
              <a:t>Mobile data roaming</a:t>
            </a:r>
          </a:p>
          <a:p>
            <a:pPr marL="342900" indent="-342900">
              <a:buFont typeface="Arial" panose="020B0604020202020204" pitchFamily="34" charset="0"/>
              <a:buChar char="•"/>
            </a:pPr>
            <a:r>
              <a:rPr lang="en-US" sz="2400" dirty="0"/>
              <a:t>Consumer protection</a:t>
            </a:r>
          </a:p>
          <a:p>
            <a:pPr marL="342900" indent="-342900">
              <a:buFont typeface="Arial" panose="020B0604020202020204" pitchFamily="34" charset="0"/>
              <a:buChar char="•"/>
            </a:pPr>
            <a:r>
              <a:rPr lang="en-US" sz="2400" dirty="0"/>
              <a:t>Quality of </a:t>
            </a:r>
            <a:r>
              <a:rPr lang="en-US" sz="2400" dirty="0" smtClean="0"/>
              <a:t>Service</a:t>
            </a:r>
          </a:p>
          <a:p>
            <a:pPr marL="342900" indent="-342900">
              <a:buFont typeface="Arial" panose="020B0604020202020204" pitchFamily="34" charset="0"/>
              <a:buChar char="•"/>
            </a:pPr>
            <a:r>
              <a:rPr lang="en-US" sz="2400" dirty="0" smtClean="0"/>
              <a:t>USO</a:t>
            </a:r>
            <a:endParaRPr lang="en-US" sz="2400" dirty="0"/>
          </a:p>
        </p:txBody>
      </p:sp>
      <p:sp>
        <p:nvSpPr>
          <p:cNvPr id="4" name="Title 1"/>
          <p:cNvSpPr txBox="1">
            <a:spLocks/>
          </p:cNvSpPr>
          <p:nvPr/>
        </p:nvSpPr>
        <p:spPr bwMode="auto">
          <a:xfrm>
            <a:off x="1389488" y="188234"/>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b="1" dirty="0" smtClean="0">
                <a:solidFill>
                  <a:schemeClr val="accent1"/>
                </a:solidFill>
                <a:latin typeface="Cambria" panose="02040503050406030204" pitchFamily="18" charset="0"/>
              </a:rPr>
              <a:t>IOT and regulatory issues</a:t>
            </a:r>
            <a:endParaRPr lang="en-US" dirty="0">
              <a:solidFill>
                <a:schemeClr val="accent1"/>
              </a:solidFill>
              <a:latin typeface="Cambria" panose="02040503050406030204" pitchFamily="18" charset="0"/>
            </a:endParaRPr>
          </a:p>
        </p:txBody>
      </p:sp>
    </p:spTree>
    <p:extLst>
      <p:ext uri="{BB962C8B-B14F-4D97-AF65-F5344CB8AC3E}">
        <p14:creationId xmlns:p14="http://schemas.microsoft.com/office/powerpoint/2010/main" val="127626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txBox="1">
            <a:spLocks/>
          </p:cNvSpPr>
          <p:nvPr/>
        </p:nvSpPr>
        <p:spPr bwMode="auto">
          <a:xfrm>
            <a:off x="1713959" y="332657"/>
            <a:ext cx="7467600" cy="819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defRPr/>
            </a:pPr>
            <a:r>
              <a:rPr lang="en-GB" sz="2400" b="1" dirty="0">
                <a:solidFill>
                  <a:schemeClr val="accent1"/>
                </a:solidFill>
                <a:latin typeface="Cambria" panose="02040503050406030204" pitchFamily="18" charset="0"/>
              </a:rPr>
              <a:t>Net Neutrality: Europe Union</a:t>
            </a:r>
            <a:endParaRPr lang="en-US" sz="2400" dirty="0">
              <a:solidFill>
                <a:schemeClr val="accent1"/>
              </a:solidFill>
              <a:latin typeface="Cambria" panose="020405030504060302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752" y="1449083"/>
            <a:ext cx="4469032" cy="2793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844759" y="1380779"/>
            <a:ext cx="4416270" cy="4247317"/>
          </a:xfrm>
          <a:prstGeom prst="rect">
            <a:avLst/>
          </a:prstGeom>
        </p:spPr>
        <p:txBody>
          <a:bodyPr wrap="square">
            <a:spAutoFit/>
          </a:bodyPr>
          <a:lstStyle/>
          <a:p>
            <a:pPr algn="r"/>
            <a:r>
              <a:rPr lang="en-US" dirty="0"/>
              <a:t>Article 3</a:t>
            </a:r>
          </a:p>
          <a:p>
            <a:pPr algn="r"/>
            <a:r>
              <a:rPr lang="en-US" b="1" dirty="0"/>
              <a:t>Safeguarding of open internet access</a:t>
            </a:r>
          </a:p>
          <a:p>
            <a:pPr algn="r"/>
            <a:endParaRPr lang="en-US" b="1" dirty="0"/>
          </a:p>
          <a:p>
            <a:endParaRPr lang="en-US" dirty="0"/>
          </a:p>
          <a:p>
            <a:pPr algn="r"/>
            <a:r>
              <a:rPr lang="en-US" dirty="0"/>
              <a:t>Article 4</a:t>
            </a:r>
          </a:p>
          <a:p>
            <a:pPr algn="r"/>
            <a:r>
              <a:rPr lang="en-US" b="1" dirty="0"/>
              <a:t>Transparency measures for ensuring open internet access </a:t>
            </a:r>
          </a:p>
          <a:p>
            <a:pPr algn="r"/>
            <a:endParaRPr lang="en-US" b="1" dirty="0"/>
          </a:p>
          <a:p>
            <a:endParaRPr lang="en-US" dirty="0"/>
          </a:p>
          <a:p>
            <a:pPr algn="r"/>
            <a:r>
              <a:rPr lang="en-US" i="1" dirty="0"/>
              <a:t>Article 5 </a:t>
            </a:r>
            <a:endParaRPr lang="en-US" dirty="0"/>
          </a:p>
          <a:p>
            <a:pPr algn="r"/>
            <a:r>
              <a:rPr lang="en-US" b="1" dirty="0"/>
              <a:t>Supervision and enforcement</a:t>
            </a:r>
          </a:p>
          <a:p>
            <a:endParaRPr lang="en-US" dirty="0"/>
          </a:p>
          <a:p>
            <a:endParaRPr lang="en-US" dirty="0"/>
          </a:p>
          <a:p>
            <a:pPr algn="r"/>
            <a:r>
              <a:rPr lang="en-US" i="1" dirty="0"/>
              <a:t>Article 6 </a:t>
            </a:r>
            <a:endParaRPr lang="en-US" dirty="0"/>
          </a:p>
          <a:p>
            <a:pPr algn="r"/>
            <a:r>
              <a:rPr lang="en-US" b="1" dirty="0"/>
              <a:t>Penalties   </a:t>
            </a:r>
            <a:endParaRPr lang="en-US" dirty="0"/>
          </a:p>
        </p:txBody>
      </p:sp>
      <p:sp>
        <p:nvSpPr>
          <p:cNvPr id="3" name="Rectangle 2"/>
          <p:cNvSpPr/>
          <p:nvPr/>
        </p:nvSpPr>
        <p:spPr>
          <a:xfrm>
            <a:off x="1274784" y="4312808"/>
            <a:ext cx="5077030" cy="1569660"/>
          </a:xfrm>
          <a:prstGeom prst="rect">
            <a:avLst/>
          </a:prstGeom>
        </p:spPr>
        <p:txBody>
          <a:bodyPr wrap="square">
            <a:spAutoFit/>
          </a:bodyPr>
          <a:lstStyle/>
          <a:p>
            <a:endParaRPr lang="en-US" sz="1200" dirty="0"/>
          </a:p>
          <a:p>
            <a:r>
              <a:rPr lang="en-US" sz="1200" b="1" dirty="0"/>
              <a:t>REGULATION (EU) 2015/2120 OF THE EUROPEAN PARLIAMENT AND OF THE COUNCIL of 25 November 2015 </a:t>
            </a:r>
            <a:endParaRPr lang="en-US" sz="1200" dirty="0"/>
          </a:p>
          <a:p>
            <a:r>
              <a:rPr lang="en-US" sz="1200" b="1" dirty="0"/>
              <a:t>laying down measures concerning open internet access and amending Directive 2002/22/EC on universal service and users’ rights relating to electronic communications networks and services and Regulation (EU) No 531/2012 on roaming on public mobile communications networks within the Union </a:t>
            </a:r>
            <a:endParaRPr lang="en-US" sz="1200" dirty="0"/>
          </a:p>
        </p:txBody>
      </p:sp>
    </p:spTree>
    <p:extLst>
      <p:ext uri="{BB962C8B-B14F-4D97-AF65-F5344CB8AC3E}">
        <p14:creationId xmlns:p14="http://schemas.microsoft.com/office/powerpoint/2010/main" val="330039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333" y="2874439"/>
            <a:ext cx="5036820" cy="807721"/>
          </a:xfrm>
        </p:spPr>
        <p:txBody>
          <a:bodyPr/>
          <a:lstStyle/>
          <a:p>
            <a:r>
              <a:rPr lang="en-US" dirty="0" smtClean="0">
                <a:solidFill>
                  <a:srgbClr val="0070C0"/>
                </a:solidFill>
              </a:rPr>
              <a:t>Thank You</a:t>
            </a:r>
            <a:endParaRPr lang="en-US" dirty="0">
              <a:solidFill>
                <a:srgbClr val="0070C0"/>
              </a:solidFill>
            </a:endParaRPr>
          </a:p>
        </p:txBody>
      </p:sp>
    </p:spTree>
    <p:extLst>
      <p:ext uri="{BB962C8B-B14F-4D97-AF65-F5344CB8AC3E}">
        <p14:creationId xmlns:p14="http://schemas.microsoft.com/office/powerpoint/2010/main" val="31058015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1329</TotalTime>
  <Words>892</Words>
  <Application>Microsoft Office PowerPoint</Application>
  <PresentationFormat>Widescreen</PresentationFormat>
  <Paragraphs>102</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Security and privacy protection capabilities</vt:lpstr>
      <vt:lpstr>PowerPoint Presentation</vt:lpstr>
      <vt:lpstr>PowerPoint Presentation</vt:lpstr>
      <vt:lpstr>PowerPoint Presentation</vt:lpstr>
      <vt:lpstr>Thank You</vt:lpstr>
    </vt:vector>
  </TitlesOfParts>
  <Company>ITU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Njume-Ebong, Ahone</dc:creator>
  <cp:lastModifiedBy>Narayan, Ashish</cp:lastModifiedBy>
  <cp:revision>185</cp:revision>
  <cp:lastPrinted>2017-04-24T07:32:52Z</cp:lastPrinted>
  <dcterms:created xsi:type="dcterms:W3CDTF">2017-02-20T15:39:54Z</dcterms:created>
  <dcterms:modified xsi:type="dcterms:W3CDTF">2017-11-02T08:44:06Z</dcterms:modified>
</cp:coreProperties>
</file>